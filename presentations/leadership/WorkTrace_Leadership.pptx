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WorkTrace is a proposal for closing the gap between the engineering work that happens inside AI coding sessions and what our system of record, Jira, reflects. This deck covers the problem, the idea, how it works, how we keep data safe, and a staged plan that starts small and read-only.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Historically the ticket-branch-commit-PR chain told the story of the work. Today a large share of investigation, root-cause analysis, and implementation decisions happens inside long-lived agent sessions. Those sessions are the richest evidence of the work, and today they are invisible to 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work starts before a Jira exists; Jira gets created retrospectively with almost no context; evidence is fragmented across tools; and as a result Jira becomes an incomplete system of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gets worse, not better, as agent adoption grows. The more work moves into agent sessions, the larger the invisible share of engineering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WorkTrace is not a Claude-to-Jira connector. It answers three questions: what work actually happened, which Jira item should represent it, and what work is Jira missing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Supports many-to-many: multiple sessions can map to one Jira, and one session can span several Jira items. Research or non-work sessions can be ignored.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quality is the core technical risk, which is why the MVP is designed to measure it first. Git and LLM signals are kept separate so the confidence score stays explainable. Weights are illustrative and will be tuned on real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Hooks stay fast — they only register session identity; analysis happens later on demand. SQLite means zero infrastructure for the MVP. Jira integration can use Atlassian Rovo MCP or the REST API; the first version only needs one. Modules: collector, analyzer, git, jira, matching, reconcile,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a differentiator for enterprise adoption. Default is derived evidence only. Any future transcript attachment is disabled by default, explicit, scoped, and reviewable before upload. Redaction targets API keys, tokens, passwords, private keys, connection strings, auth headers.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Rovo MCP is a likely integration mechanism, not a competitor — it provides the tools, WorkTrace provides the reconciliation intelligence. Agentry is the closest adjacent product; we differentiate on detecting and reconciling missing work rather than linking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UI should productize a proven reconciliation engine, not hide an unreliable one. Exit criteria for moving to a UI: reliable collection, consistently useful summaries, stable deterministic matching, acceptable semantic quality, understandable suggestions, manageable false-positive missing-Jira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and analytics features are explicitly deferred until the single-developer workflow proves valuable. That keeps the early investment small and the trust story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these asks to match what you actually need. The key message: V0 is local, read-only, needs no new infrastructure, and is designed to produce a clear go/no-go signal on matching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2B"/>
        </a:solidFill>
      </p:bgPr>
    </p:bg>
    <p:spTree>
      <p:nvGrpSpPr>
        <p:cNvPr id="1" name=""/>
        <p:cNvGrpSpPr/>
        <p:nvPr/>
      </p:nvGrpSpPr>
      <p:grpSpPr>
        <a:xfrm>
          <a:off x="0" y="0"/>
          <a:ext cx="0" cy="0"/>
          <a:chOff x="0" y="0"/>
          <a:chExt cx="0" cy="0"/>
        </a:xfrm>
      </p:grpSpPr>
      <p:sp>
        <p:nvSpPr>
          <p:cNvPr id="2" name="Text 0"/>
          <p:cNvSpPr txBox="1"/>
          <p:nvPr/>
        </p:nvSpPr>
        <p:spPr>
          <a:xfrm>
            <a:off x="640080" y="1188720"/>
            <a:ext cx="78638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WorkTrace</a:t>
            </a:r>
            <a:endParaRPr lang="en-US" sz="5400" dirty="0"/>
          </a:p>
        </p:txBody>
      </p:sp>
      <p:sp>
        <p:nvSpPr>
          <p:cNvPr id="3" name="Text 1"/>
          <p:cNvSpPr txBox="1"/>
          <p:nvPr/>
        </p:nvSpPr>
        <p:spPr>
          <a:xfrm>
            <a:off x="640080" y="2103120"/>
            <a:ext cx="7863840" cy="457200"/>
          </a:xfrm>
          <a:prstGeom prst="rect">
            <a:avLst/>
          </a:prstGeom>
          <a:noFill/>
          <a:ln/>
        </p:spPr>
        <p:txBody>
          <a:bodyPr wrap="square" lIns="0" tIns="0" rIns="0" bIns="0" rtlCol="0" anchor="ctr"/>
          <a:lstStyle/>
          <a:p>
            <a:pPr indent="0" marL="0">
              <a:buNone/>
            </a:pPr>
            <a:r>
              <a:rPr lang="en-US" sz="2200" dirty="0">
                <a:solidFill>
                  <a:srgbClr val="B9D6CE"/>
                </a:solidFill>
                <a:latin typeface="Calibri" pitchFamily="34" charset="0"/>
                <a:ea typeface="Calibri" pitchFamily="34" charset="-122"/>
                <a:cs typeface="Calibri" pitchFamily="34" charset="-120"/>
              </a:rPr>
              <a:t>AI Work Reconciliation for Developers</a:t>
            </a:r>
            <a:endParaRPr lang="en-US" sz="2200" dirty="0"/>
          </a:p>
        </p:txBody>
      </p:sp>
      <p:sp>
        <p:nvSpPr>
          <p:cNvPr id="4" name="Text 2"/>
          <p:cNvSpPr txBox="1"/>
          <p:nvPr/>
        </p:nvSpPr>
        <p:spPr>
          <a:xfrm>
            <a:off x="640080" y="2926080"/>
            <a:ext cx="6583680" cy="731520"/>
          </a:xfrm>
          <a:prstGeom prst="rect">
            <a:avLst/>
          </a:prstGeom>
          <a:noFill/>
          <a:ln/>
        </p:spPr>
        <p:txBody>
          <a:bodyPr wrap="square" lIns="0" tIns="0" rIns="0" bIns="0" rtlCol="0" anchor="ctr"/>
          <a:lstStyle/>
          <a:p>
            <a:pPr indent="0" marL="0">
              <a:buNone/>
            </a:pPr>
            <a:r>
              <a:rPr lang="en-US" sz="1600" i="1" dirty="0">
                <a:solidFill>
                  <a:srgbClr val="FFFFFF"/>
                </a:solidFill>
                <a:latin typeface="Calibri" pitchFamily="34" charset="0"/>
                <a:ea typeface="Calibri" pitchFamily="34" charset="-122"/>
                <a:cs typeface="Calibri" pitchFamily="34" charset="-120"/>
              </a:rPr>
              <a:t>Reconcile the work developers actually did in AI coding sessions with the work Jira says they did.</a:t>
            </a:r>
            <a:endParaRPr lang="en-US" sz="1600" dirty="0"/>
          </a:p>
        </p:txBody>
      </p:sp>
      <p:sp>
        <p:nvSpPr>
          <p:cNvPr id="5" name="Text 3"/>
          <p:cNvSpPr txBox="1"/>
          <p:nvPr/>
        </p:nvSpPr>
        <p:spPr>
          <a:xfrm>
            <a:off x="640080" y="4389120"/>
            <a:ext cx="7315200" cy="320040"/>
          </a:xfrm>
          <a:prstGeom prst="rect">
            <a:avLst/>
          </a:prstGeom>
          <a:noFill/>
          <a:ln/>
        </p:spPr>
        <p:txBody>
          <a:bodyPr wrap="square" lIns="0" tIns="0" rIns="0" bIns="0" rtlCol="0" anchor="ctr"/>
          <a:lstStyle/>
          <a:p>
            <a:pPr indent="0" marL="0">
              <a:buNone/>
            </a:pPr>
            <a:r>
              <a:rPr lang="en-US" sz="1200" dirty="0">
                <a:solidFill>
                  <a:srgbClr val="E89B2E"/>
                </a:solidFill>
                <a:latin typeface="Calibri" pitchFamily="34" charset="0"/>
                <a:ea typeface="Calibri" pitchFamily="34" charset="-122"/>
                <a:cs typeface="Calibri" pitchFamily="34" charset="-120"/>
              </a:rPr>
              <a:t>Concept / MVP design  ·  Leadership overview</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Where engineering work happens has shifted</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AI coding agents are now a primary development surface — but our tracking assumes the old trail</a:t>
            </a:r>
            <a:endParaRPr lang="en-US" sz="1400" dirty="0"/>
          </a:p>
        </p:txBody>
      </p:sp>
      <p:sp>
        <p:nvSpPr>
          <p:cNvPr id="4" name="Shape 2"/>
          <p:cNvSpPr/>
          <p:nvPr/>
        </p:nvSpPr>
        <p:spPr>
          <a:xfrm>
            <a:off x="457200" y="1463040"/>
            <a:ext cx="3931920" cy="3200400"/>
          </a:xfrm>
          <a:prstGeom prst="roundRect">
            <a:avLst>
              <a:gd name="adj" fmla="val 3429"/>
            </a:avLst>
          </a:prstGeom>
          <a:solidFill>
            <a:srgbClr val="E6F0ED"/>
          </a:solidFill>
          <a:ln/>
        </p:spPr>
      </p:sp>
      <p:sp>
        <p:nvSpPr>
          <p:cNvPr id="5" name="Text 3"/>
          <p:cNvSpPr txBox="1"/>
          <p:nvPr/>
        </p:nvSpPr>
        <p:spPr>
          <a:xfrm>
            <a:off x="731520" y="1645920"/>
            <a:ext cx="3383280" cy="365760"/>
          </a:xfrm>
          <a:prstGeom prst="rect">
            <a:avLst/>
          </a:prstGeom>
          <a:noFill/>
          <a:ln/>
        </p:spPr>
        <p:txBody>
          <a:bodyPr wrap="square" lIns="0" tIns="0" rIns="0" bIns="0" rtlCol="0" anchor="ctr"/>
          <a:lstStyle/>
          <a:p>
            <a:pPr indent="0" marL="0">
              <a:buNone/>
            </a:pPr>
            <a:r>
              <a:rPr lang="en-US" sz="1800" b="1" dirty="0">
                <a:solidFill>
                  <a:srgbClr val="12302B"/>
                </a:solidFill>
                <a:latin typeface="Cambria" pitchFamily="34" charset="0"/>
                <a:ea typeface="Cambria" pitchFamily="34" charset="-122"/>
                <a:cs typeface="Cambria" pitchFamily="34" charset="-120"/>
              </a:rPr>
              <a:t>Before coding agents</a:t>
            </a:r>
            <a:endParaRPr lang="en-US" sz="1800" dirty="0"/>
          </a:p>
        </p:txBody>
      </p:sp>
      <p:sp>
        <p:nvSpPr>
          <p:cNvPr id="6" name="Shape 4"/>
          <p:cNvSpPr/>
          <p:nvPr/>
        </p:nvSpPr>
        <p:spPr>
          <a:xfrm>
            <a:off x="731520" y="2148840"/>
            <a:ext cx="3383280" cy="365760"/>
          </a:xfrm>
          <a:prstGeom prst="roundRect">
            <a:avLst>
              <a:gd name="adj" fmla="val 15000"/>
            </a:avLst>
          </a:prstGeom>
          <a:solidFill>
            <a:srgbClr val="FFFFFF"/>
          </a:solidFill>
          <a:ln/>
        </p:spPr>
      </p:sp>
      <p:sp>
        <p:nvSpPr>
          <p:cNvPr id="7" name="Text 5"/>
          <p:cNvSpPr txBox="1"/>
          <p:nvPr/>
        </p:nvSpPr>
        <p:spPr>
          <a:xfrm>
            <a:off x="868680" y="2148840"/>
            <a:ext cx="3200400" cy="365760"/>
          </a:xfrm>
          <a:prstGeom prst="rect">
            <a:avLst/>
          </a:prstGeom>
          <a:noFill/>
          <a:ln/>
        </p:spPr>
        <p:txBody>
          <a:bodyPr wrap="square" lIns="0" tIns="0" rIns="0" bIns="0" rtlCol="0" anchor="ctr"/>
          <a:lstStyle/>
          <a:p>
            <a:pPr indent="0" marL="0">
              <a:buNone/>
            </a:pPr>
            <a:r>
              <a:rPr lang="en-US" sz="1300" dirty="0">
                <a:solidFill>
                  <a:srgbClr val="1B2B28"/>
                </a:solidFill>
                <a:latin typeface="Calibri" pitchFamily="34" charset="0"/>
                <a:ea typeface="Calibri" pitchFamily="34" charset="-122"/>
                <a:cs typeface="Calibri" pitchFamily="34" charset="-120"/>
              </a:rPr>
              <a:t>Ticket</a:t>
            </a:r>
            <a:endParaRPr lang="en-US" sz="1300" dirty="0"/>
          </a:p>
        </p:txBody>
      </p:sp>
      <p:sp>
        <p:nvSpPr>
          <p:cNvPr id="8" name="Shape 6"/>
          <p:cNvSpPr/>
          <p:nvPr/>
        </p:nvSpPr>
        <p:spPr>
          <a:xfrm>
            <a:off x="731520" y="2624328"/>
            <a:ext cx="3383280" cy="365760"/>
          </a:xfrm>
          <a:prstGeom prst="roundRect">
            <a:avLst>
              <a:gd name="adj" fmla="val 15000"/>
            </a:avLst>
          </a:prstGeom>
          <a:solidFill>
            <a:srgbClr val="FFFFFF"/>
          </a:solidFill>
          <a:ln/>
        </p:spPr>
      </p:sp>
      <p:sp>
        <p:nvSpPr>
          <p:cNvPr id="9" name="Text 7"/>
          <p:cNvSpPr txBox="1"/>
          <p:nvPr/>
        </p:nvSpPr>
        <p:spPr>
          <a:xfrm>
            <a:off x="868680" y="2624328"/>
            <a:ext cx="3200400" cy="365760"/>
          </a:xfrm>
          <a:prstGeom prst="rect">
            <a:avLst/>
          </a:prstGeom>
          <a:noFill/>
          <a:ln/>
        </p:spPr>
        <p:txBody>
          <a:bodyPr wrap="square" lIns="0" tIns="0" rIns="0" bIns="0" rtlCol="0" anchor="ctr"/>
          <a:lstStyle/>
          <a:p>
            <a:pPr indent="0" marL="0">
              <a:buNone/>
            </a:pPr>
            <a:r>
              <a:rPr lang="en-US" sz="1300" dirty="0">
                <a:solidFill>
                  <a:srgbClr val="1B2B28"/>
                </a:solidFill>
                <a:latin typeface="Calibri" pitchFamily="34" charset="0"/>
                <a:ea typeface="Calibri" pitchFamily="34" charset="-122"/>
                <a:cs typeface="Calibri" pitchFamily="34" charset="-120"/>
              </a:rPr>
              <a:t>Branch</a:t>
            </a:r>
            <a:endParaRPr lang="en-US" sz="1300" dirty="0"/>
          </a:p>
        </p:txBody>
      </p:sp>
      <p:sp>
        <p:nvSpPr>
          <p:cNvPr id="10" name="Shape 8"/>
          <p:cNvSpPr/>
          <p:nvPr/>
        </p:nvSpPr>
        <p:spPr>
          <a:xfrm>
            <a:off x="731520" y="3099816"/>
            <a:ext cx="3383280" cy="365760"/>
          </a:xfrm>
          <a:prstGeom prst="roundRect">
            <a:avLst>
              <a:gd name="adj" fmla="val 15000"/>
            </a:avLst>
          </a:prstGeom>
          <a:solidFill>
            <a:srgbClr val="FFFFFF"/>
          </a:solidFill>
          <a:ln/>
        </p:spPr>
      </p:sp>
      <p:sp>
        <p:nvSpPr>
          <p:cNvPr id="11" name="Text 9"/>
          <p:cNvSpPr txBox="1"/>
          <p:nvPr/>
        </p:nvSpPr>
        <p:spPr>
          <a:xfrm>
            <a:off x="868680" y="3099816"/>
            <a:ext cx="3200400" cy="365760"/>
          </a:xfrm>
          <a:prstGeom prst="rect">
            <a:avLst/>
          </a:prstGeom>
          <a:noFill/>
          <a:ln/>
        </p:spPr>
        <p:txBody>
          <a:bodyPr wrap="square" lIns="0" tIns="0" rIns="0" bIns="0" rtlCol="0" anchor="ctr"/>
          <a:lstStyle/>
          <a:p>
            <a:pPr indent="0" marL="0">
              <a:buNone/>
            </a:pPr>
            <a:r>
              <a:rPr lang="en-US" sz="1300" dirty="0">
                <a:solidFill>
                  <a:srgbClr val="1B2B28"/>
                </a:solidFill>
                <a:latin typeface="Calibri" pitchFamily="34" charset="0"/>
                <a:ea typeface="Calibri" pitchFamily="34" charset="-122"/>
                <a:cs typeface="Calibri" pitchFamily="34" charset="-120"/>
              </a:rPr>
              <a:t>Commits</a:t>
            </a:r>
            <a:endParaRPr lang="en-US" sz="1300" dirty="0"/>
          </a:p>
        </p:txBody>
      </p:sp>
      <p:sp>
        <p:nvSpPr>
          <p:cNvPr id="12" name="Shape 10"/>
          <p:cNvSpPr/>
          <p:nvPr/>
        </p:nvSpPr>
        <p:spPr>
          <a:xfrm>
            <a:off x="731520" y="3575304"/>
            <a:ext cx="3383280" cy="365760"/>
          </a:xfrm>
          <a:prstGeom prst="roundRect">
            <a:avLst>
              <a:gd name="adj" fmla="val 15000"/>
            </a:avLst>
          </a:prstGeom>
          <a:solidFill>
            <a:srgbClr val="FFFFFF"/>
          </a:solidFill>
          <a:ln/>
        </p:spPr>
      </p:sp>
      <p:sp>
        <p:nvSpPr>
          <p:cNvPr id="13" name="Text 11"/>
          <p:cNvSpPr txBox="1"/>
          <p:nvPr/>
        </p:nvSpPr>
        <p:spPr>
          <a:xfrm>
            <a:off x="868680" y="3575304"/>
            <a:ext cx="3200400" cy="365760"/>
          </a:xfrm>
          <a:prstGeom prst="rect">
            <a:avLst/>
          </a:prstGeom>
          <a:noFill/>
          <a:ln/>
        </p:spPr>
        <p:txBody>
          <a:bodyPr wrap="square" lIns="0" tIns="0" rIns="0" bIns="0" rtlCol="0" anchor="ctr"/>
          <a:lstStyle/>
          <a:p>
            <a:pPr indent="0" marL="0">
              <a:buNone/>
            </a:pPr>
            <a:r>
              <a:rPr lang="en-US" sz="1300" dirty="0">
                <a:solidFill>
                  <a:srgbClr val="1B2B28"/>
                </a:solidFill>
                <a:latin typeface="Calibri" pitchFamily="34" charset="0"/>
                <a:ea typeface="Calibri" pitchFamily="34" charset="-122"/>
                <a:cs typeface="Calibri" pitchFamily="34" charset="-120"/>
              </a:rPr>
              <a:t>Pull request</a:t>
            </a:r>
            <a:endParaRPr lang="en-US" sz="1300" dirty="0"/>
          </a:p>
        </p:txBody>
      </p:sp>
      <p:sp>
        <p:nvSpPr>
          <p:cNvPr id="14" name="Text 12"/>
          <p:cNvSpPr txBox="1"/>
          <p:nvPr/>
        </p:nvSpPr>
        <p:spPr>
          <a:xfrm>
            <a:off x="731520" y="4114800"/>
            <a:ext cx="3383280" cy="365760"/>
          </a:xfrm>
          <a:prstGeom prst="rect">
            <a:avLst/>
          </a:prstGeom>
          <a:noFill/>
          <a:ln/>
        </p:spPr>
        <p:txBody>
          <a:bodyPr wrap="square" lIns="0" tIns="0" rIns="0" bIns="0" rtlCol="0" anchor="ctr"/>
          <a:lstStyle/>
          <a:p>
            <a:pPr indent="0" marL="0">
              <a:buNone/>
            </a:pPr>
            <a:r>
              <a:rPr lang="en-US" sz="1300" b="1" i="1" dirty="0">
                <a:solidFill>
                  <a:srgbClr val="1F4A42"/>
                </a:solidFill>
                <a:latin typeface="Calibri" pitchFamily="34" charset="0"/>
                <a:ea typeface="Calibri" pitchFamily="34" charset="-122"/>
                <a:cs typeface="Calibri" pitchFamily="34" charset="-120"/>
              </a:rPr>
              <a:t>Work trail visible end-to-end</a:t>
            </a:r>
            <a:endParaRPr lang="en-US" sz="1300" dirty="0"/>
          </a:p>
        </p:txBody>
      </p:sp>
      <p:sp>
        <p:nvSpPr>
          <p:cNvPr id="15" name="Shape 13"/>
          <p:cNvSpPr/>
          <p:nvPr/>
        </p:nvSpPr>
        <p:spPr>
          <a:xfrm>
            <a:off x="4754880" y="1463040"/>
            <a:ext cx="3931920" cy="3200400"/>
          </a:xfrm>
          <a:prstGeom prst="roundRect">
            <a:avLst>
              <a:gd name="adj" fmla="val 3429"/>
            </a:avLst>
          </a:prstGeom>
          <a:solidFill>
            <a:srgbClr val="12302B"/>
          </a:solidFill>
          <a:ln/>
        </p:spPr>
      </p:sp>
      <p:sp>
        <p:nvSpPr>
          <p:cNvPr id="16" name="Text 14"/>
          <p:cNvSpPr txBox="1"/>
          <p:nvPr/>
        </p:nvSpPr>
        <p:spPr>
          <a:xfrm>
            <a:off x="5029200" y="1645920"/>
            <a:ext cx="3383280"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With coding agents</a:t>
            </a:r>
            <a:endParaRPr lang="en-US" sz="1800" dirty="0"/>
          </a:p>
        </p:txBody>
      </p:sp>
      <p:sp>
        <p:nvSpPr>
          <p:cNvPr id="17" name="Shape 15"/>
          <p:cNvSpPr/>
          <p:nvPr/>
        </p:nvSpPr>
        <p:spPr>
          <a:xfrm>
            <a:off x="5029200" y="2148840"/>
            <a:ext cx="3383280" cy="365760"/>
          </a:xfrm>
          <a:prstGeom prst="roundRect">
            <a:avLst>
              <a:gd name="adj" fmla="val 15000"/>
            </a:avLst>
          </a:prstGeom>
          <a:solidFill>
            <a:srgbClr val="1F4A42"/>
          </a:solidFill>
          <a:ln/>
        </p:spPr>
      </p:sp>
      <p:sp>
        <p:nvSpPr>
          <p:cNvPr id="18" name="Text 16"/>
          <p:cNvSpPr txBox="1"/>
          <p:nvPr/>
        </p:nvSpPr>
        <p:spPr>
          <a:xfrm>
            <a:off x="5166360" y="2148840"/>
            <a:ext cx="3200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Problem exploration</a:t>
            </a:r>
            <a:endParaRPr lang="en-US" sz="1300" dirty="0"/>
          </a:p>
        </p:txBody>
      </p:sp>
      <p:sp>
        <p:nvSpPr>
          <p:cNvPr id="19" name="Shape 17"/>
          <p:cNvSpPr/>
          <p:nvPr/>
        </p:nvSpPr>
        <p:spPr>
          <a:xfrm>
            <a:off x="5029200" y="2624328"/>
            <a:ext cx="3383280" cy="365760"/>
          </a:xfrm>
          <a:prstGeom prst="roundRect">
            <a:avLst>
              <a:gd name="adj" fmla="val 15000"/>
            </a:avLst>
          </a:prstGeom>
          <a:solidFill>
            <a:srgbClr val="1F4A42"/>
          </a:solidFill>
          <a:ln/>
        </p:spPr>
      </p:sp>
      <p:sp>
        <p:nvSpPr>
          <p:cNvPr id="20" name="Text 18"/>
          <p:cNvSpPr txBox="1"/>
          <p:nvPr/>
        </p:nvSpPr>
        <p:spPr>
          <a:xfrm>
            <a:off x="5166360" y="2624328"/>
            <a:ext cx="3200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Agent conversation + tool calls</a:t>
            </a:r>
            <a:endParaRPr lang="en-US" sz="1300" dirty="0"/>
          </a:p>
        </p:txBody>
      </p:sp>
      <p:sp>
        <p:nvSpPr>
          <p:cNvPr id="21" name="Shape 19"/>
          <p:cNvSpPr/>
          <p:nvPr/>
        </p:nvSpPr>
        <p:spPr>
          <a:xfrm>
            <a:off x="5029200" y="3099816"/>
            <a:ext cx="3383280" cy="365760"/>
          </a:xfrm>
          <a:prstGeom prst="roundRect">
            <a:avLst>
              <a:gd name="adj" fmla="val 15000"/>
            </a:avLst>
          </a:prstGeom>
          <a:solidFill>
            <a:srgbClr val="1F4A42"/>
          </a:solidFill>
          <a:ln/>
        </p:spPr>
      </p:sp>
      <p:sp>
        <p:nvSpPr>
          <p:cNvPr id="22" name="Text 20"/>
          <p:cNvSpPr txBox="1"/>
          <p:nvPr/>
        </p:nvSpPr>
        <p:spPr>
          <a:xfrm>
            <a:off x="5166360" y="3099816"/>
            <a:ext cx="3200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Code changes + validation</a:t>
            </a:r>
            <a:endParaRPr lang="en-US" sz="1300" dirty="0"/>
          </a:p>
        </p:txBody>
      </p:sp>
      <p:sp>
        <p:nvSpPr>
          <p:cNvPr id="23" name="Shape 21"/>
          <p:cNvSpPr/>
          <p:nvPr/>
        </p:nvSpPr>
        <p:spPr>
          <a:xfrm>
            <a:off x="5029200" y="3575304"/>
            <a:ext cx="3383280" cy="365760"/>
          </a:xfrm>
          <a:prstGeom prst="roundRect">
            <a:avLst>
              <a:gd name="adj" fmla="val 15000"/>
            </a:avLst>
          </a:prstGeom>
          <a:solidFill>
            <a:srgbClr val="1F4A42"/>
          </a:solidFill>
          <a:ln/>
        </p:spPr>
      </p:sp>
      <p:sp>
        <p:nvSpPr>
          <p:cNvPr id="24" name="Text 22"/>
          <p:cNvSpPr txBox="1"/>
          <p:nvPr/>
        </p:nvSpPr>
        <p:spPr>
          <a:xfrm>
            <a:off x="5166360" y="3575304"/>
            <a:ext cx="320040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Follow-up changes</a:t>
            </a:r>
            <a:endParaRPr lang="en-US" sz="1300" dirty="0"/>
          </a:p>
        </p:txBody>
      </p:sp>
      <p:sp>
        <p:nvSpPr>
          <p:cNvPr id="25" name="Text 23"/>
          <p:cNvSpPr txBox="1"/>
          <p:nvPr/>
        </p:nvSpPr>
        <p:spPr>
          <a:xfrm>
            <a:off x="5029200" y="4114800"/>
            <a:ext cx="3383280" cy="365760"/>
          </a:xfrm>
          <a:prstGeom prst="rect">
            <a:avLst/>
          </a:prstGeom>
          <a:noFill/>
          <a:ln/>
        </p:spPr>
        <p:txBody>
          <a:bodyPr wrap="square" lIns="0" tIns="0" rIns="0" bIns="0" rtlCol="0" anchor="ctr"/>
          <a:lstStyle/>
          <a:p>
            <a:pPr indent="0" marL="0">
              <a:buNone/>
            </a:pPr>
            <a:r>
              <a:rPr lang="en-US" sz="1300" b="1" i="1" dirty="0">
                <a:solidFill>
                  <a:srgbClr val="E89B2E"/>
                </a:solidFill>
                <a:latin typeface="Calibri" pitchFamily="34" charset="0"/>
                <a:ea typeface="Calibri" pitchFamily="34" charset="-122"/>
                <a:cs typeface="Calibri" pitchFamily="34" charset="-120"/>
              </a:rPr>
              <a:t>Most of the reasoning lives in the session</a:t>
            </a:r>
            <a:endParaRPr lang="en-US" sz="1300" dirty="0"/>
          </a:p>
        </p:txBody>
      </p:sp>
      <p:sp>
        <p:nvSpPr>
          <p:cNvPr id="26" name="Text 24"/>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The gap: work that happened vs. what Jira says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A typical day for a developer working in Claude Code</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394960" cy="914400"/>
        </p:xfrm>
        <a:graphic>
          <a:graphicData uri="http://schemas.openxmlformats.org/drawingml/2006/table">
            <a:tbl>
              <a:tblPr/>
              <a:tblGrid>
                <a:gridCol w="1143000"/>
                <a:gridCol w="2194560"/>
                <a:gridCol w="20574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Time</a:t>
                      </a:r>
                      <a:endParaRPr lang="en-US" sz="13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solidFill>
                      <a:srgbClr val="1230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Actual work</a:t>
                      </a:r>
                      <a:endParaRPr lang="en-US" sz="13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solidFill>
                      <a:srgbClr val="12302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Jira state</a:t>
                      </a:r>
                      <a:endParaRPr lang="en-US" sz="13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solidFill>
                      <a:srgbClr val="12302B"/>
                    </a:solidFill>
                  </a:tcPr>
                </a:tc>
              </a:tr>
              <a:tr h="457200">
                <a:tc>
                  <a:txBody>
                    <a:bodyPr/>
                    <a:lstStyle/>
                    <a:p>
                      <a:pPr indent="0" marL="0">
                        <a:buNone/>
                      </a:pPr>
                      <a:r>
                        <a:rPr lang="en-US" sz="1200" dirty="0">
                          <a:solidFill>
                            <a:srgbClr val="1B2B28"/>
                          </a:solidFill>
                          <a:latin typeface="Calibri" pitchFamily="34" charset="0"/>
                          <a:ea typeface="Calibri" pitchFamily="34" charset="-122"/>
                          <a:cs typeface="Calibri" pitchFamily="34" charset="-120"/>
                        </a:rPr>
                        <a:t>09:00–10:30</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200" dirty="0">
                          <a:solidFill>
                            <a:srgbClr val="1B2B28"/>
                          </a:solidFill>
                          <a:latin typeface="Calibri" pitchFamily="34" charset="0"/>
                          <a:ea typeface="Calibri" pitchFamily="34" charset="-122"/>
                          <a:cs typeface="Calibri" pitchFamily="34" charset="-120"/>
                        </a:rPr>
                        <a:t>Add XML reader to ETL framework</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200" b="1" dirty="0">
                          <a:solidFill>
                            <a:srgbClr val="D9534F"/>
                          </a:solidFill>
                          <a:latin typeface="Calibri" pitchFamily="34" charset="0"/>
                          <a:ea typeface="Calibri" pitchFamily="34" charset="-122"/>
                          <a:cs typeface="Calibri" pitchFamily="34" charset="-120"/>
                        </a:rPr>
                        <a:t>No Jira created</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r h="457200">
                <a:tc>
                  <a:txBody>
                    <a:bodyPr/>
                    <a:lstStyle/>
                    <a:p>
                      <a:pPr indent="0" marL="0">
                        <a:buNone/>
                      </a:pPr>
                      <a:r>
                        <a:rPr lang="en-US" sz="1200" dirty="0">
                          <a:solidFill>
                            <a:srgbClr val="1B2B28"/>
                          </a:solidFill>
                          <a:latin typeface="Calibri" pitchFamily="34" charset="0"/>
                          <a:ea typeface="Calibri" pitchFamily="34" charset="-122"/>
                          <a:cs typeface="Calibri" pitchFamily="34" charset="-120"/>
                        </a:rPr>
                        <a:t>11:00–12:00</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200" dirty="0">
                          <a:solidFill>
                            <a:srgbClr val="1B2B28"/>
                          </a:solidFill>
                          <a:latin typeface="Calibri" pitchFamily="34" charset="0"/>
                          <a:ea typeface="Calibri" pitchFamily="34" charset="-122"/>
                          <a:cs typeface="Calibri" pitchFamily="34" charset="-120"/>
                        </a:rPr>
                        <a:t>Debug Glue 5 compatibility</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200" b="1" dirty="0">
                          <a:solidFill>
                            <a:srgbClr val="E89B2E"/>
                          </a:solidFill>
                          <a:latin typeface="Calibri" pitchFamily="34" charset="0"/>
                          <a:ea typeface="Calibri" pitchFamily="34" charset="-122"/>
                          <a:cs typeface="Calibri" pitchFamily="34" charset="-120"/>
                        </a:rPr>
                        <a:t>Maybe related to a migration story</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r h="457200">
                <a:tc>
                  <a:txBody>
                    <a:bodyPr/>
                    <a:lstStyle/>
                    <a:p>
                      <a:pPr indent="0" marL="0">
                        <a:buNone/>
                      </a:pPr>
                      <a:r>
                        <a:rPr lang="en-US" sz="1200" dirty="0">
                          <a:solidFill>
                            <a:srgbClr val="1B2B28"/>
                          </a:solidFill>
                          <a:latin typeface="Calibri" pitchFamily="34" charset="0"/>
                          <a:ea typeface="Calibri" pitchFamily="34" charset="-122"/>
                          <a:cs typeface="Calibri" pitchFamily="34" charset="-120"/>
                        </a:rPr>
                        <a:t>14:00–15:30</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200" dirty="0">
                          <a:solidFill>
                            <a:srgbClr val="1B2B28"/>
                          </a:solidFill>
                          <a:latin typeface="Calibri" pitchFamily="34" charset="0"/>
                          <a:ea typeface="Calibri" pitchFamily="34" charset="-122"/>
                          <a:cs typeface="Calibri" pitchFamily="34" charset="-120"/>
                        </a:rPr>
                        <a:t>GDPR purge fix</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200" b="1" dirty="0">
                          <a:solidFill>
                            <a:srgbClr val="E89B2E"/>
                          </a:solidFill>
                          <a:latin typeface="Calibri" pitchFamily="34" charset="0"/>
                          <a:ea typeface="Calibri" pitchFamily="34" charset="-122"/>
                          <a:cs typeface="Calibri" pitchFamily="34" charset="-120"/>
                        </a:rPr>
                        <a:t>Jira exists, no implementation update</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r h="457200">
                <a:tc>
                  <a:txBody>
                    <a:bodyPr/>
                    <a:lstStyle/>
                    <a:p>
                      <a:pPr indent="0" marL="0">
                        <a:buNone/>
                      </a:pPr>
                      <a:r>
                        <a:rPr lang="en-US" sz="1200" dirty="0">
                          <a:solidFill>
                            <a:srgbClr val="1B2B28"/>
                          </a:solidFill>
                          <a:latin typeface="Calibri" pitchFamily="34" charset="0"/>
                          <a:ea typeface="Calibri" pitchFamily="34" charset="-122"/>
                          <a:cs typeface="Calibri" pitchFamily="34" charset="-120"/>
                        </a:rPr>
                        <a:t>17:00</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200" dirty="0">
                          <a:solidFill>
                            <a:srgbClr val="1B2B28"/>
                          </a:solidFill>
                          <a:latin typeface="Calibri" pitchFamily="34" charset="0"/>
                          <a:ea typeface="Calibri" pitchFamily="34" charset="-122"/>
                          <a:cs typeface="Calibri" pitchFamily="34" charset="-120"/>
                        </a:rPr>
                        <a:t>Developer remembers tracking</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200" b="1" dirty="0">
                          <a:solidFill>
                            <a:srgbClr val="D9534F"/>
                          </a:solidFill>
                          <a:latin typeface="Calibri" pitchFamily="34" charset="0"/>
                          <a:ea typeface="Calibri" pitchFamily="34" charset="-122"/>
                          <a:cs typeface="Calibri" pitchFamily="34" charset="-120"/>
                        </a:rPr>
                        <a:t>One broad ticket: "Fixed pipeline issue"</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bl>
          </a:graphicData>
        </a:graphic>
      </p:graphicFrame>
      <p:sp>
        <p:nvSpPr>
          <p:cNvPr id="5" name="Shape 2"/>
          <p:cNvSpPr/>
          <p:nvPr/>
        </p:nvSpPr>
        <p:spPr>
          <a:xfrm>
            <a:off x="6172200" y="1417320"/>
            <a:ext cx="2514600" cy="3246120"/>
          </a:xfrm>
          <a:prstGeom prst="roundRect">
            <a:avLst>
              <a:gd name="adj" fmla="val 4364"/>
            </a:avLst>
          </a:prstGeom>
          <a:solidFill>
            <a:srgbClr val="E6F0ED"/>
          </a:solidFill>
          <a:ln/>
        </p:spPr>
      </p:sp>
      <p:sp>
        <p:nvSpPr>
          <p:cNvPr id="6" name="Text 3"/>
          <p:cNvSpPr txBox="1"/>
          <p:nvPr/>
        </p:nvSpPr>
        <p:spPr>
          <a:xfrm>
            <a:off x="6355080" y="1554480"/>
            <a:ext cx="2194560" cy="36576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What gets lost</a:t>
            </a:r>
            <a:endParaRPr lang="en-US" sz="1600" dirty="0"/>
          </a:p>
        </p:txBody>
      </p:sp>
      <p:sp>
        <p:nvSpPr>
          <p:cNvPr id="7" name="Text 4"/>
          <p:cNvSpPr txBox="1"/>
          <p:nvPr/>
        </p:nvSpPr>
        <p:spPr>
          <a:xfrm>
            <a:off x="6355080" y="1965960"/>
            <a:ext cx="2240280" cy="25603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2B28"/>
                </a:solidFill>
                <a:latin typeface="Calibri" pitchFamily="34" charset="0"/>
                <a:ea typeface="Calibri" pitchFamily="34" charset="-122"/>
                <a:cs typeface="Calibri" pitchFamily="34" charset="-120"/>
              </a:rPr>
              <a:t>Root-cause analysis</a:t>
            </a:r>
            <a:endParaRPr lang="en-US" sz="1300" dirty="0"/>
          </a:p>
          <a:p>
            <a:pPr marL="342900" indent="-342900">
              <a:spcAft>
                <a:spcPts val="600"/>
              </a:spcAft>
              <a:buSzPct val="100000"/>
              <a:buChar char="•"/>
            </a:pPr>
            <a:r>
              <a:rPr lang="en-US" sz="1300" dirty="0">
                <a:solidFill>
                  <a:srgbClr val="1B2B28"/>
                </a:solidFill>
                <a:latin typeface="Calibri" pitchFamily="34" charset="0"/>
                <a:ea typeface="Calibri" pitchFamily="34" charset="-122"/>
                <a:cs typeface="Calibri" pitchFamily="34" charset="-120"/>
              </a:rPr>
              <a:t>Alternatives considered</a:t>
            </a:r>
            <a:endParaRPr lang="en-US" sz="1300" dirty="0"/>
          </a:p>
          <a:p>
            <a:pPr marL="342900" indent="-342900">
              <a:spcAft>
                <a:spcPts val="600"/>
              </a:spcAft>
              <a:buSzPct val="100000"/>
              <a:buChar char="•"/>
            </a:pPr>
            <a:r>
              <a:rPr lang="en-US" sz="1300" dirty="0">
                <a:solidFill>
                  <a:srgbClr val="1B2B28"/>
                </a:solidFill>
                <a:latin typeface="Calibri" pitchFamily="34" charset="0"/>
                <a:ea typeface="Calibri" pitchFamily="34" charset="-122"/>
                <a:cs typeface="Calibri" pitchFamily="34" charset="-120"/>
              </a:rPr>
              <a:t>Files and components changed</a:t>
            </a:r>
            <a:endParaRPr lang="en-US" sz="1300" dirty="0"/>
          </a:p>
          <a:p>
            <a:pPr marL="342900" indent="-342900">
              <a:spcAft>
                <a:spcPts val="600"/>
              </a:spcAft>
              <a:buSzPct val="100000"/>
              <a:buChar char="•"/>
            </a:pPr>
            <a:r>
              <a:rPr lang="en-US" sz="1300" dirty="0">
                <a:solidFill>
                  <a:srgbClr val="1B2B28"/>
                </a:solidFill>
                <a:latin typeface="Calibri" pitchFamily="34" charset="0"/>
                <a:ea typeface="Calibri" pitchFamily="34" charset="-122"/>
                <a:cs typeface="Calibri" pitchFamily="34" charset="-120"/>
              </a:rPr>
              <a:t>Tests run and results</a:t>
            </a:r>
            <a:endParaRPr lang="en-US" sz="1300" dirty="0"/>
          </a:p>
          <a:p>
            <a:pPr marL="342900" indent="-342900">
              <a:spcAft>
                <a:spcPts val="600"/>
              </a:spcAft>
              <a:buSzPct val="100000"/>
              <a:buChar char="•"/>
            </a:pPr>
            <a:r>
              <a:rPr lang="en-US" sz="1300" dirty="0">
                <a:solidFill>
                  <a:srgbClr val="1B2B28"/>
                </a:solidFill>
                <a:latin typeface="Calibri" pitchFamily="34" charset="0"/>
                <a:ea typeface="Calibri" pitchFamily="34" charset="-122"/>
                <a:cs typeface="Calibri" pitchFamily="34" charset="-120"/>
              </a:rPr>
              <a:t>Implementation decisions</a:t>
            </a:r>
            <a:endParaRPr lang="en-US" sz="1300" dirty="0"/>
          </a:p>
        </p:txBody>
      </p:sp>
      <p:sp>
        <p:nvSpPr>
          <p:cNvPr id="8" name="Text 5"/>
          <p:cNvSpPr txBox="1"/>
          <p:nvPr/>
        </p:nvSpPr>
        <p:spPr>
          <a:xfrm>
            <a:off x="457200" y="3931920"/>
            <a:ext cx="5394960" cy="731520"/>
          </a:xfrm>
          <a:prstGeom prst="rect">
            <a:avLst/>
          </a:prstGeom>
          <a:noFill/>
          <a:ln/>
        </p:spPr>
        <p:txBody>
          <a:bodyPr wrap="square" lIns="0" tIns="0" rIns="0" bIns="0" rtlCol="0" anchor="ctr"/>
          <a:lstStyle/>
          <a:p>
            <a:pPr indent="0" marL="0">
              <a:buNone/>
            </a:pPr>
            <a:r>
              <a:rPr lang="en-US" sz="1300" i="1" dirty="0">
                <a:solidFill>
                  <a:srgbClr val="5E706C"/>
                </a:solidFill>
                <a:latin typeface="Calibri" pitchFamily="34" charset="0"/>
                <a:ea typeface="Calibri" pitchFamily="34" charset="-122"/>
                <a:cs typeface="Calibri" pitchFamily="34" charset="-120"/>
              </a:rPr>
              <a:t>Evidence is scattered across transcripts, branches, commits, PRs and test output — with no single step that asks "is all of today's work in Jira?"</a:t>
            </a:r>
            <a:endParaRPr lang="en-US" sz="1300" dirty="0"/>
          </a:p>
        </p:txBody>
      </p:sp>
      <p:sp>
        <p:nvSpPr>
          <p:cNvPr id="9" name="Text 6"/>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Why it matters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Jira is our system of record — when it drifts from reality, so does everything built on it</a:t>
            </a:r>
            <a:endParaRPr lang="en-US" sz="1400" dirty="0"/>
          </a:p>
        </p:txBody>
      </p:sp>
      <p:sp>
        <p:nvSpPr>
          <p:cNvPr id="4" name="Shape 2"/>
          <p:cNvSpPr/>
          <p:nvPr/>
        </p:nvSpPr>
        <p:spPr>
          <a:xfrm>
            <a:off x="457200" y="1463040"/>
            <a:ext cx="4023360" cy="1371600"/>
          </a:xfrm>
          <a:prstGeom prst="roundRect">
            <a:avLst>
              <a:gd name="adj" fmla="val 6667"/>
            </a:avLst>
          </a:prstGeom>
          <a:solidFill>
            <a:srgbClr val="FFFFFF"/>
          </a:solidFill>
          <a:ln w="12700">
            <a:solidFill>
              <a:srgbClr val="D5E2DE"/>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737360"/>
            <a:ext cx="384048" cy="384048"/>
          </a:xfrm>
          <a:prstGeom prst="ellipse">
            <a:avLst/>
          </a:prstGeom>
          <a:solidFill>
            <a:srgbClr val="12302B"/>
          </a:solidFill>
          <a:ln/>
        </p:spPr>
      </p:sp>
      <p:sp>
        <p:nvSpPr>
          <p:cNvPr id="6" name="Text 4"/>
          <p:cNvSpPr txBox="1"/>
          <p:nvPr/>
        </p:nvSpPr>
        <p:spPr>
          <a:xfrm>
            <a:off x="68580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34440" y="1691640"/>
            <a:ext cx="3108960" cy="41148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Effort is under-represented</a:t>
            </a:r>
            <a:endParaRPr lang="en-US" sz="1600" dirty="0"/>
          </a:p>
        </p:txBody>
      </p:sp>
      <p:sp>
        <p:nvSpPr>
          <p:cNvPr id="8" name="Text 6"/>
          <p:cNvSpPr txBox="1"/>
          <p:nvPr/>
        </p:nvSpPr>
        <p:spPr>
          <a:xfrm>
            <a:off x="1234440" y="2121408"/>
            <a:ext cx="3108960" cy="594360"/>
          </a:xfrm>
          <a:prstGeom prst="rect">
            <a:avLst/>
          </a:prstGeom>
          <a:noFill/>
          <a:ln/>
        </p:spPr>
        <p:txBody>
          <a:bodyPr wrap="square" lIns="0" tIns="0" rIns="0" bIns="0" rtlCol="0" anchor="ctr"/>
          <a:lstStyle/>
          <a:p>
            <a:pPr indent="0" marL="0">
              <a:buNone/>
            </a:pPr>
            <a:r>
              <a:rPr lang="en-US" sz="1300" dirty="0">
                <a:solidFill>
                  <a:srgbClr val="1B2B28"/>
                </a:solidFill>
                <a:latin typeface="Calibri" pitchFamily="34" charset="0"/>
                <a:ea typeface="Calibri" pitchFamily="34" charset="-122"/>
                <a:cs typeface="Calibri" pitchFamily="34" charset="-120"/>
              </a:rPr>
              <a:t>Investigation and debugging work simply disappears from the record.</a:t>
            </a:r>
            <a:endParaRPr lang="en-US" sz="1300" dirty="0"/>
          </a:p>
        </p:txBody>
      </p:sp>
      <p:sp>
        <p:nvSpPr>
          <p:cNvPr id="9" name="Shape 7"/>
          <p:cNvSpPr/>
          <p:nvPr/>
        </p:nvSpPr>
        <p:spPr>
          <a:xfrm>
            <a:off x="4663440" y="1463040"/>
            <a:ext cx="4023360" cy="1371600"/>
          </a:xfrm>
          <a:prstGeom prst="roundRect">
            <a:avLst>
              <a:gd name="adj" fmla="val 6667"/>
            </a:avLst>
          </a:prstGeom>
          <a:solidFill>
            <a:srgbClr val="FFFFFF"/>
          </a:solidFill>
          <a:ln w="12700">
            <a:solidFill>
              <a:srgbClr val="D5E2DE"/>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892040" y="1737360"/>
            <a:ext cx="384048" cy="384048"/>
          </a:xfrm>
          <a:prstGeom prst="ellipse">
            <a:avLst/>
          </a:prstGeom>
          <a:solidFill>
            <a:srgbClr val="12302B"/>
          </a:solidFill>
          <a:ln/>
        </p:spPr>
      </p:sp>
      <p:sp>
        <p:nvSpPr>
          <p:cNvPr id="11" name="Text 9"/>
          <p:cNvSpPr txBox="1"/>
          <p:nvPr/>
        </p:nvSpPr>
        <p:spPr>
          <a:xfrm>
            <a:off x="4892040" y="1737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440680" y="1691640"/>
            <a:ext cx="3108960" cy="41148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Reporting gets less accurate</a:t>
            </a:r>
            <a:endParaRPr lang="en-US" sz="1600" dirty="0"/>
          </a:p>
        </p:txBody>
      </p:sp>
      <p:sp>
        <p:nvSpPr>
          <p:cNvPr id="13" name="Text 11"/>
          <p:cNvSpPr txBox="1"/>
          <p:nvPr/>
        </p:nvSpPr>
        <p:spPr>
          <a:xfrm>
            <a:off x="5440680" y="2121408"/>
            <a:ext cx="3108960" cy="594360"/>
          </a:xfrm>
          <a:prstGeom prst="rect">
            <a:avLst/>
          </a:prstGeom>
          <a:noFill/>
          <a:ln/>
        </p:spPr>
        <p:txBody>
          <a:bodyPr wrap="square" lIns="0" tIns="0" rIns="0" bIns="0" rtlCol="0" anchor="ctr"/>
          <a:lstStyle/>
          <a:p>
            <a:pPr indent="0" marL="0">
              <a:buNone/>
            </a:pPr>
            <a:r>
              <a:rPr lang="en-US" sz="1300" dirty="0">
                <a:solidFill>
                  <a:srgbClr val="1B2B28"/>
                </a:solidFill>
                <a:latin typeface="Calibri" pitchFamily="34" charset="0"/>
                <a:ea typeface="Calibri" pitchFamily="34" charset="-122"/>
                <a:cs typeface="Calibri" pitchFamily="34" charset="-120"/>
              </a:rPr>
              <a:t>Sprint and delivery reporting reflect broad after-the-fact tickets.</a:t>
            </a:r>
            <a:endParaRPr lang="en-US" sz="1300" dirty="0"/>
          </a:p>
        </p:txBody>
      </p:sp>
      <p:sp>
        <p:nvSpPr>
          <p:cNvPr id="14" name="Shape 12"/>
          <p:cNvSpPr/>
          <p:nvPr/>
        </p:nvSpPr>
        <p:spPr>
          <a:xfrm>
            <a:off x="457200" y="3063240"/>
            <a:ext cx="4023360" cy="1371600"/>
          </a:xfrm>
          <a:prstGeom prst="roundRect">
            <a:avLst>
              <a:gd name="adj" fmla="val 6667"/>
            </a:avLst>
          </a:prstGeom>
          <a:solidFill>
            <a:srgbClr val="FFFFFF"/>
          </a:solidFill>
          <a:ln w="12700">
            <a:solidFill>
              <a:srgbClr val="D5E2DE"/>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685800" y="3337560"/>
            <a:ext cx="384048" cy="384048"/>
          </a:xfrm>
          <a:prstGeom prst="ellipse">
            <a:avLst/>
          </a:prstGeom>
          <a:solidFill>
            <a:srgbClr val="12302B"/>
          </a:solidFill>
          <a:ln/>
        </p:spPr>
      </p:sp>
      <p:sp>
        <p:nvSpPr>
          <p:cNvPr id="16" name="Text 14"/>
          <p:cNvSpPr txBox="1"/>
          <p:nvPr/>
        </p:nvSpPr>
        <p:spPr>
          <a:xfrm>
            <a:off x="68580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34440" y="3291840"/>
            <a:ext cx="3108960" cy="41148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Traceability breaks</a:t>
            </a:r>
            <a:endParaRPr lang="en-US" sz="1600" dirty="0"/>
          </a:p>
        </p:txBody>
      </p:sp>
      <p:sp>
        <p:nvSpPr>
          <p:cNvPr id="18" name="Text 16"/>
          <p:cNvSpPr txBox="1"/>
          <p:nvPr/>
        </p:nvSpPr>
        <p:spPr>
          <a:xfrm>
            <a:off x="1234440" y="3721608"/>
            <a:ext cx="3108960" cy="594360"/>
          </a:xfrm>
          <a:prstGeom prst="rect">
            <a:avLst/>
          </a:prstGeom>
          <a:noFill/>
          <a:ln/>
        </p:spPr>
        <p:txBody>
          <a:bodyPr wrap="square" lIns="0" tIns="0" rIns="0" bIns="0" rtlCol="0" anchor="ctr"/>
          <a:lstStyle/>
          <a:p>
            <a:pPr indent="0" marL="0">
              <a:buNone/>
            </a:pPr>
            <a:r>
              <a:rPr lang="en-US" sz="1300" dirty="0">
                <a:solidFill>
                  <a:srgbClr val="1B2B28"/>
                </a:solidFill>
                <a:latin typeface="Calibri" pitchFamily="34" charset="0"/>
                <a:ea typeface="Calibri" pitchFamily="34" charset="-122"/>
                <a:cs typeface="Calibri" pitchFamily="34" charset="-120"/>
              </a:rPr>
              <a:t>The link between request, decision, and implementation is lost.</a:t>
            </a:r>
            <a:endParaRPr lang="en-US" sz="1300" dirty="0"/>
          </a:p>
        </p:txBody>
      </p:sp>
      <p:sp>
        <p:nvSpPr>
          <p:cNvPr id="19" name="Shape 17"/>
          <p:cNvSpPr/>
          <p:nvPr/>
        </p:nvSpPr>
        <p:spPr>
          <a:xfrm>
            <a:off x="4663440" y="3063240"/>
            <a:ext cx="4023360" cy="1371600"/>
          </a:xfrm>
          <a:prstGeom prst="roundRect">
            <a:avLst>
              <a:gd name="adj" fmla="val 6667"/>
            </a:avLst>
          </a:prstGeom>
          <a:solidFill>
            <a:srgbClr val="FFFFFF"/>
          </a:solidFill>
          <a:ln w="12700">
            <a:solidFill>
              <a:srgbClr val="D5E2DE"/>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4892040" y="3337560"/>
            <a:ext cx="384048" cy="384048"/>
          </a:xfrm>
          <a:prstGeom prst="ellipse">
            <a:avLst/>
          </a:prstGeom>
          <a:solidFill>
            <a:srgbClr val="12302B"/>
          </a:solidFill>
          <a:ln/>
        </p:spPr>
      </p:sp>
      <p:sp>
        <p:nvSpPr>
          <p:cNvPr id="21" name="Text 19"/>
          <p:cNvSpPr txBox="1"/>
          <p:nvPr/>
        </p:nvSpPr>
        <p:spPr>
          <a:xfrm>
            <a:off x="489204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440680" y="3291840"/>
            <a:ext cx="3108960" cy="41148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AI impact stays invisible</a:t>
            </a:r>
            <a:endParaRPr lang="en-US" sz="1600" dirty="0"/>
          </a:p>
        </p:txBody>
      </p:sp>
      <p:sp>
        <p:nvSpPr>
          <p:cNvPr id="23" name="Text 21"/>
          <p:cNvSpPr txBox="1"/>
          <p:nvPr/>
        </p:nvSpPr>
        <p:spPr>
          <a:xfrm>
            <a:off x="5440680" y="3721608"/>
            <a:ext cx="3108960" cy="594360"/>
          </a:xfrm>
          <a:prstGeom prst="rect">
            <a:avLst/>
          </a:prstGeom>
          <a:noFill/>
          <a:ln/>
        </p:spPr>
        <p:txBody>
          <a:bodyPr wrap="square" lIns="0" tIns="0" rIns="0" bIns="0" rtlCol="0" anchor="ctr"/>
          <a:lstStyle/>
          <a:p>
            <a:pPr indent="0" marL="0">
              <a:buNone/>
            </a:pPr>
            <a:r>
              <a:rPr lang="en-US" sz="1300" dirty="0">
                <a:solidFill>
                  <a:srgbClr val="1B2B28"/>
                </a:solidFill>
                <a:latin typeface="Calibri" pitchFamily="34" charset="0"/>
                <a:ea typeface="Calibri" pitchFamily="34" charset="-122"/>
                <a:cs typeface="Calibri" pitchFamily="34" charset="-120"/>
              </a:rPr>
              <a:t>We can't see how agent-assisted work actually contributes to delivery.</a:t>
            </a:r>
            <a:endParaRPr lang="en-US" sz="1300" dirty="0"/>
          </a:p>
        </p:txBody>
      </p:sp>
      <p:sp>
        <p:nvSpPr>
          <p:cNvPr id="24" name="Text 22"/>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02B"/>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idea: an AI work reconciliation layer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B9D6CE"/>
                </a:solidFill>
                <a:latin typeface="Calibri" pitchFamily="34" charset="0"/>
                <a:ea typeface="Calibri" pitchFamily="34" charset="-122"/>
                <a:cs typeface="Calibri" pitchFamily="34" charset="-120"/>
              </a:rPr>
              <a:t>Treat AI coding sessions as evidence of engineering work — and reconcile that evidence against Jira</a:t>
            </a:r>
            <a:endParaRPr lang="en-US" sz="1400" dirty="0"/>
          </a:p>
        </p:txBody>
      </p:sp>
      <p:sp>
        <p:nvSpPr>
          <p:cNvPr id="4" name="Shape 2"/>
          <p:cNvSpPr/>
          <p:nvPr/>
        </p:nvSpPr>
        <p:spPr>
          <a:xfrm>
            <a:off x="457200" y="1600200"/>
            <a:ext cx="1481328" cy="1828800"/>
          </a:xfrm>
          <a:prstGeom prst="roundRect">
            <a:avLst>
              <a:gd name="adj" fmla="val 6173"/>
            </a:avLst>
          </a:prstGeom>
          <a:solidFill>
            <a:srgbClr val="1F4A42"/>
          </a:solidFill>
          <a:ln/>
        </p:spPr>
      </p:sp>
      <p:sp>
        <p:nvSpPr>
          <p:cNvPr id="5" name="Text 3"/>
          <p:cNvSpPr txBox="1"/>
          <p:nvPr/>
        </p:nvSpPr>
        <p:spPr>
          <a:xfrm>
            <a:off x="594360" y="1691640"/>
            <a:ext cx="457200" cy="457200"/>
          </a:xfrm>
          <a:prstGeom prst="rect">
            <a:avLst/>
          </a:prstGeom>
          <a:noFill/>
          <a:ln/>
        </p:spPr>
        <p:txBody>
          <a:bodyPr wrap="square" lIns="0" tIns="0" rIns="0" bIns="0" rtlCol="0" anchor="ctr"/>
          <a:lstStyle/>
          <a:p>
            <a:pPr indent="0" marL="0">
              <a:buNone/>
            </a:pPr>
            <a:r>
              <a:rPr lang="en-US" sz="2400" b="1" dirty="0">
                <a:solidFill>
                  <a:srgbClr val="E89B2E"/>
                </a:solidFill>
                <a:latin typeface="Cambria" pitchFamily="34" charset="0"/>
                <a:ea typeface="Cambria" pitchFamily="34" charset="-122"/>
                <a:cs typeface="Cambria" pitchFamily="34" charset="-120"/>
              </a:rPr>
              <a:t>1</a:t>
            </a:r>
            <a:endParaRPr lang="en-US" sz="2400" dirty="0"/>
          </a:p>
        </p:txBody>
      </p:sp>
      <p:sp>
        <p:nvSpPr>
          <p:cNvPr id="6" name="Text 4"/>
          <p:cNvSpPr txBox="1"/>
          <p:nvPr/>
        </p:nvSpPr>
        <p:spPr>
          <a:xfrm>
            <a:off x="594360" y="2194560"/>
            <a:ext cx="1207008"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Discover</a:t>
            </a:r>
            <a:endParaRPr lang="en-US" sz="1600" dirty="0"/>
          </a:p>
        </p:txBody>
      </p:sp>
      <p:sp>
        <p:nvSpPr>
          <p:cNvPr id="7" name="Text 5"/>
          <p:cNvSpPr txBox="1"/>
          <p:nvPr/>
        </p:nvSpPr>
        <p:spPr>
          <a:xfrm>
            <a:off x="594360" y="2560320"/>
            <a:ext cx="1207008" cy="777240"/>
          </a:xfrm>
          <a:prstGeom prst="rect">
            <a:avLst/>
          </a:prstGeom>
          <a:noFill/>
          <a:ln/>
        </p:spPr>
        <p:txBody>
          <a:bodyPr wrap="square" lIns="0" tIns="0" rIns="0" bIns="0" rtlCol="0" anchor="t"/>
          <a:lstStyle/>
          <a:p>
            <a:pPr indent="0" marL="0">
              <a:buNone/>
            </a:pPr>
            <a:r>
              <a:rPr lang="en-US" sz="1200" dirty="0">
                <a:solidFill>
                  <a:srgbClr val="E6F0ED"/>
                </a:solidFill>
                <a:latin typeface="Calibri" pitchFamily="34" charset="0"/>
                <a:ea typeface="Calibri" pitchFamily="34" charset="-122"/>
                <a:cs typeface="Calibri" pitchFamily="34" charset="-120"/>
              </a:rPr>
              <a:t>Find today's sessions, incl. resumed ones</a:t>
            </a:r>
            <a:endParaRPr lang="en-US" sz="1200" dirty="0"/>
          </a:p>
        </p:txBody>
      </p:sp>
      <p:sp>
        <p:nvSpPr>
          <p:cNvPr id="8" name="Shape 6"/>
          <p:cNvSpPr/>
          <p:nvPr/>
        </p:nvSpPr>
        <p:spPr>
          <a:xfrm>
            <a:off x="2121408" y="1600200"/>
            <a:ext cx="1481328" cy="1828800"/>
          </a:xfrm>
          <a:prstGeom prst="roundRect">
            <a:avLst>
              <a:gd name="adj" fmla="val 6173"/>
            </a:avLst>
          </a:prstGeom>
          <a:solidFill>
            <a:srgbClr val="1F4A42"/>
          </a:solidFill>
          <a:ln/>
        </p:spPr>
      </p:sp>
      <p:sp>
        <p:nvSpPr>
          <p:cNvPr id="9" name="Text 7"/>
          <p:cNvSpPr txBox="1"/>
          <p:nvPr/>
        </p:nvSpPr>
        <p:spPr>
          <a:xfrm>
            <a:off x="2258568" y="1691640"/>
            <a:ext cx="457200" cy="457200"/>
          </a:xfrm>
          <a:prstGeom prst="rect">
            <a:avLst/>
          </a:prstGeom>
          <a:noFill/>
          <a:ln/>
        </p:spPr>
        <p:txBody>
          <a:bodyPr wrap="square" lIns="0" tIns="0" rIns="0" bIns="0" rtlCol="0" anchor="ctr"/>
          <a:lstStyle/>
          <a:p>
            <a:pPr indent="0" marL="0">
              <a:buNone/>
            </a:pPr>
            <a:r>
              <a:rPr lang="en-US" sz="2400" b="1" dirty="0">
                <a:solidFill>
                  <a:srgbClr val="E89B2E"/>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2258568" y="2194560"/>
            <a:ext cx="1207008"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Summarize</a:t>
            </a:r>
            <a:endParaRPr lang="en-US" sz="1600" dirty="0"/>
          </a:p>
        </p:txBody>
      </p:sp>
      <p:sp>
        <p:nvSpPr>
          <p:cNvPr id="11" name="Text 9"/>
          <p:cNvSpPr txBox="1"/>
          <p:nvPr/>
        </p:nvSpPr>
        <p:spPr>
          <a:xfrm>
            <a:off x="2258568" y="2560320"/>
            <a:ext cx="1207008" cy="777240"/>
          </a:xfrm>
          <a:prstGeom prst="rect">
            <a:avLst/>
          </a:prstGeom>
          <a:noFill/>
          <a:ln/>
        </p:spPr>
        <p:txBody>
          <a:bodyPr wrap="square" lIns="0" tIns="0" rIns="0" bIns="0" rtlCol="0" anchor="t"/>
          <a:lstStyle/>
          <a:p>
            <a:pPr indent="0" marL="0">
              <a:buNone/>
            </a:pPr>
            <a:r>
              <a:rPr lang="en-US" sz="1200" dirty="0">
                <a:solidFill>
                  <a:srgbClr val="E6F0ED"/>
                </a:solidFill>
                <a:latin typeface="Calibri" pitchFamily="34" charset="0"/>
                <a:ea typeface="Calibri" pitchFamily="34" charset="-122"/>
                <a:cs typeface="Calibri" pitchFamily="34" charset="-120"/>
              </a:rPr>
              <a:t>Turn transcripts into structured work records</a:t>
            </a:r>
            <a:endParaRPr lang="en-US" sz="1200" dirty="0"/>
          </a:p>
        </p:txBody>
      </p:sp>
      <p:sp>
        <p:nvSpPr>
          <p:cNvPr id="12" name="Shape 10"/>
          <p:cNvSpPr/>
          <p:nvPr/>
        </p:nvSpPr>
        <p:spPr>
          <a:xfrm>
            <a:off x="3785616" y="1600200"/>
            <a:ext cx="1481328" cy="1828800"/>
          </a:xfrm>
          <a:prstGeom prst="roundRect">
            <a:avLst>
              <a:gd name="adj" fmla="val 6173"/>
            </a:avLst>
          </a:prstGeom>
          <a:solidFill>
            <a:srgbClr val="1F4A42"/>
          </a:solidFill>
          <a:ln/>
        </p:spPr>
      </p:sp>
      <p:sp>
        <p:nvSpPr>
          <p:cNvPr id="13" name="Text 11"/>
          <p:cNvSpPr txBox="1"/>
          <p:nvPr/>
        </p:nvSpPr>
        <p:spPr>
          <a:xfrm>
            <a:off x="3922776" y="1691640"/>
            <a:ext cx="457200" cy="457200"/>
          </a:xfrm>
          <a:prstGeom prst="rect">
            <a:avLst/>
          </a:prstGeom>
          <a:noFill/>
          <a:ln/>
        </p:spPr>
        <p:txBody>
          <a:bodyPr wrap="square" lIns="0" tIns="0" rIns="0" bIns="0" rtlCol="0" anchor="ctr"/>
          <a:lstStyle/>
          <a:p>
            <a:pPr indent="0" marL="0">
              <a:buNone/>
            </a:pPr>
            <a:r>
              <a:rPr lang="en-US" sz="2400" b="1" dirty="0">
                <a:solidFill>
                  <a:srgbClr val="E89B2E"/>
                </a:solidFill>
                <a:latin typeface="Cambria" pitchFamily="34" charset="0"/>
                <a:ea typeface="Cambria" pitchFamily="34" charset="-122"/>
                <a:cs typeface="Cambria" pitchFamily="34" charset="-120"/>
              </a:rPr>
              <a:t>3</a:t>
            </a:r>
            <a:endParaRPr lang="en-US" sz="2400" dirty="0"/>
          </a:p>
        </p:txBody>
      </p:sp>
      <p:sp>
        <p:nvSpPr>
          <p:cNvPr id="14" name="Text 12"/>
          <p:cNvSpPr txBox="1"/>
          <p:nvPr/>
        </p:nvSpPr>
        <p:spPr>
          <a:xfrm>
            <a:off x="3922776" y="2194560"/>
            <a:ext cx="1207008"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Enrich</a:t>
            </a:r>
            <a:endParaRPr lang="en-US" sz="1600" dirty="0"/>
          </a:p>
        </p:txBody>
      </p:sp>
      <p:sp>
        <p:nvSpPr>
          <p:cNvPr id="15" name="Text 13"/>
          <p:cNvSpPr txBox="1"/>
          <p:nvPr/>
        </p:nvSpPr>
        <p:spPr>
          <a:xfrm>
            <a:off x="3922776" y="2560320"/>
            <a:ext cx="1207008" cy="777240"/>
          </a:xfrm>
          <a:prstGeom prst="rect">
            <a:avLst/>
          </a:prstGeom>
          <a:noFill/>
          <a:ln/>
        </p:spPr>
        <p:txBody>
          <a:bodyPr wrap="square" lIns="0" tIns="0" rIns="0" bIns="0" rtlCol="0" anchor="t"/>
          <a:lstStyle/>
          <a:p>
            <a:pPr indent="0" marL="0">
              <a:buNone/>
            </a:pPr>
            <a:r>
              <a:rPr lang="en-US" sz="1200" dirty="0">
                <a:solidFill>
                  <a:srgbClr val="E6F0ED"/>
                </a:solidFill>
                <a:latin typeface="Calibri" pitchFamily="34" charset="0"/>
                <a:ea typeface="Calibri" pitchFamily="34" charset="-122"/>
                <a:cs typeface="Calibri" pitchFamily="34" charset="-120"/>
              </a:rPr>
              <a:t>Add Git branch, commits, PR, files</a:t>
            </a:r>
            <a:endParaRPr lang="en-US" sz="1200" dirty="0"/>
          </a:p>
        </p:txBody>
      </p:sp>
      <p:sp>
        <p:nvSpPr>
          <p:cNvPr id="16" name="Shape 14"/>
          <p:cNvSpPr/>
          <p:nvPr/>
        </p:nvSpPr>
        <p:spPr>
          <a:xfrm>
            <a:off x="5449824" y="1600200"/>
            <a:ext cx="1481328" cy="1828800"/>
          </a:xfrm>
          <a:prstGeom prst="roundRect">
            <a:avLst>
              <a:gd name="adj" fmla="val 6173"/>
            </a:avLst>
          </a:prstGeom>
          <a:solidFill>
            <a:srgbClr val="1F4A42"/>
          </a:solidFill>
          <a:ln/>
        </p:spPr>
      </p:sp>
      <p:sp>
        <p:nvSpPr>
          <p:cNvPr id="17" name="Text 15"/>
          <p:cNvSpPr txBox="1"/>
          <p:nvPr/>
        </p:nvSpPr>
        <p:spPr>
          <a:xfrm>
            <a:off x="5586984" y="1691640"/>
            <a:ext cx="457200" cy="457200"/>
          </a:xfrm>
          <a:prstGeom prst="rect">
            <a:avLst/>
          </a:prstGeom>
          <a:noFill/>
          <a:ln/>
        </p:spPr>
        <p:txBody>
          <a:bodyPr wrap="square" lIns="0" tIns="0" rIns="0" bIns="0" rtlCol="0" anchor="ctr"/>
          <a:lstStyle/>
          <a:p>
            <a:pPr indent="0" marL="0">
              <a:buNone/>
            </a:pPr>
            <a:r>
              <a:rPr lang="en-US" sz="2400" b="1" dirty="0">
                <a:solidFill>
                  <a:srgbClr val="E89B2E"/>
                </a:solidFill>
                <a:latin typeface="Cambria" pitchFamily="34" charset="0"/>
                <a:ea typeface="Cambria" pitchFamily="34" charset="-122"/>
                <a:cs typeface="Cambria" pitchFamily="34" charset="-120"/>
              </a:rPr>
              <a:t>4</a:t>
            </a:r>
            <a:endParaRPr lang="en-US" sz="2400" dirty="0"/>
          </a:p>
        </p:txBody>
      </p:sp>
      <p:sp>
        <p:nvSpPr>
          <p:cNvPr id="18" name="Text 16"/>
          <p:cNvSpPr txBox="1"/>
          <p:nvPr/>
        </p:nvSpPr>
        <p:spPr>
          <a:xfrm>
            <a:off x="5586984" y="2194560"/>
            <a:ext cx="1207008"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Match</a:t>
            </a:r>
            <a:endParaRPr lang="en-US" sz="1600" dirty="0"/>
          </a:p>
        </p:txBody>
      </p:sp>
      <p:sp>
        <p:nvSpPr>
          <p:cNvPr id="19" name="Text 17"/>
          <p:cNvSpPr txBox="1"/>
          <p:nvPr/>
        </p:nvSpPr>
        <p:spPr>
          <a:xfrm>
            <a:off x="5586984" y="2560320"/>
            <a:ext cx="1207008" cy="777240"/>
          </a:xfrm>
          <a:prstGeom prst="rect">
            <a:avLst/>
          </a:prstGeom>
          <a:noFill/>
          <a:ln/>
        </p:spPr>
        <p:txBody>
          <a:bodyPr wrap="square" lIns="0" tIns="0" rIns="0" bIns="0" rtlCol="0" anchor="t"/>
          <a:lstStyle/>
          <a:p>
            <a:pPr indent="0" marL="0">
              <a:buNone/>
            </a:pPr>
            <a:r>
              <a:rPr lang="en-US" sz="1200" dirty="0">
                <a:solidFill>
                  <a:srgbClr val="E6F0ED"/>
                </a:solidFill>
                <a:latin typeface="Calibri" pitchFamily="34" charset="0"/>
                <a:ea typeface="Calibri" pitchFamily="34" charset="-122"/>
                <a:cs typeface="Calibri" pitchFamily="34" charset="-120"/>
              </a:rPr>
              <a:t>Rank likely Jira items with confidence</a:t>
            </a:r>
            <a:endParaRPr lang="en-US" sz="1200" dirty="0"/>
          </a:p>
        </p:txBody>
      </p:sp>
      <p:sp>
        <p:nvSpPr>
          <p:cNvPr id="20" name="Shape 18"/>
          <p:cNvSpPr/>
          <p:nvPr/>
        </p:nvSpPr>
        <p:spPr>
          <a:xfrm>
            <a:off x="7114032" y="1600200"/>
            <a:ext cx="1481328" cy="1828800"/>
          </a:xfrm>
          <a:prstGeom prst="roundRect">
            <a:avLst>
              <a:gd name="adj" fmla="val 6173"/>
            </a:avLst>
          </a:prstGeom>
          <a:solidFill>
            <a:srgbClr val="E89B2E"/>
          </a:solidFill>
          <a:ln/>
        </p:spPr>
      </p:sp>
      <p:sp>
        <p:nvSpPr>
          <p:cNvPr id="21" name="Text 19"/>
          <p:cNvSpPr txBox="1"/>
          <p:nvPr/>
        </p:nvSpPr>
        <p:spPr>
          <a:xfrm>
            <a:off x="7251192" y="1691640"/>
            <a:ext cx="457200" cy="457200"/>
          </a:xfrm>
          <a:prstGeom prst="rect">
            <a:avLst/>
          </a:prstGeom>
          <a:noFill/>
          <a:ln/>
        </p:spPr>
        <p:txBody>
          <a:bodyPr wrap="square" lIns="0" tIns="0" rIns="0" bIns="0" rtlCol="0" anchor="ctr"/>
          <a:lstStyle/>
          <a:p>
            <a:pPr indent="0" marL="0">
              <a:buNone/>
            </a:pPr>
            <a:r>
              <a:rPr lang="en-US" sz="2400" b="1" dirty="0">
                <a:solidFill>
                  <a:srgbClr val="12302B"/>
                </a:solidFill>
                <a:latin typeface="Cambria" pitchFamily="34" charset="0"/>
                <a:ea typeface="Cambria" pitchFamily="34" charset="-122"/>
                <a:cs typeface="Cambria" pitchFamily="34" charset="-120"/>
              </a:rPr>
              <a:t>5</a:t>
            </a:r>
            <a:endParaRPr lang="en-US" sz="2400" dirty="0"/>
          </a:p>
        </p:txBody>
      </p:sp>
      <p:sp>
        <p:nvSpPr>
          <p:cNvPr id="22" name="Text 20"/>
          <p:cNvSpPr txBox="1"/>
          <p:nvPr/>
        </p:nvSpPr>
        <p:spPr>
          <a:xfrm>
            <a:off x="7251192" y="2194560"/>
            <a:ext cx="1207008" cy="36576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Confirm</a:t>
            </a:r>
            <a:endParaRPr lang="en-US" sz="1600" dirty="0"/>
          </a:p>
        </p:txBody>
      </p:sp>
      <p:sp>
        <p:nvSpPr>
          <p:cNvPr id="23" name="Text 21"/>
          <p:cNvSpPr txBox="1"/>
          <p:nvPr/>
        </p:nvSpPr>
        <p:spPr>
          <a:xfrm>
            <a:off x="7251192" y="2560320"/>
            <a:ext cx="1207008" cy="777240"/>
          </a:xfrm>
          <a:prstGeom prst="rect">
            <a:avLst/>
          </a:prstGeom>
          <a:noFill/>
          <a:ln/>
        </p:spPr>
        <p:txBody>
          <a:bodyPr wrap="square" lIns="0" tIns="0" rIns="0" bIns="0" rtlCol="0" anchor="t"/>
          <a:lstStyle/>
          <a:p>
            <a:pPr indent="0" marL="0">
              <a:buNone/>
            </a:pPr>
            <a:r>
              <a:rPr lang="en-US" sz="1200" dirty="0">
                <a:solidFill>
                  <a:srgbClr val="12302B"/>
                </a:solidFill>
                <a:latin typeface="Calibri" pitchFamily="34" charset="0"/>
                <a:ea typeface="Calibri" pitchFamily="34" charset="-122"/>
                <a:cs typeface="Calibri" pitchFamily="34" charset="-120"/>
              </a:rPr>
              <a:t>Developer approves; Jira updated</a:t>
            </a:r>
            <a:endParaRPr lang="en-US" sz="1200" dirty="0"/>
          </a:p>
        </p:txBody>
      </p:sp>
      <p:sp>
        <p:nvSpPr>
          <p:cNvPr id="24" name="Text 22"/>
          <p:cNvSpPr txBox="1"/>
          <p:nvPr/>
        </p:nvSpPr>
        <p:spPr>
          <a:xfrm>
            <a:off x="457200" y="3794760"/>
            <a:ext cx="8229600" cy="54864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“At the end of the day, reconcile the work you actually did with the work Jira says you did.”</a:t>
            </a:r>
            <a:endParaRPr lang="en-US" sz="1800" dirty="0"/>
          </a:p>
        </p:txBody>
      </p:sp>
      <p:sp>
        <p:nvSpPr>
          <p:cNvPr id="25" name="Text 23"/>
          <p:cNvSpPr txBox="1"/>
          <p:nvPr/>
        </p:nvSpPr>
        <p:spPr>
          <a:xfrm>
            <a:off x="457200" y="4389120"/>
            <a:ext cx="8229600" cy="320040"/>
          </a:xfrm>
          <a:prstGeom prst="rect">
            <a:avLst/>
          </a:prstGeom>
          <a:noFill/>
          <a:ln/>
        </p:spPr>
        <p:txBody>
          <a:bodyPr wrap="square" lIns="0" tIns="0" rIns="0" bIns="0" rtlCol="0" anchor="ctr"/>
          <a:lstStyle/>
          <a:p>
            <a:pPr indent="0" marL="0">
              <a:buNone/>
            </a:pPr>
            <a:r>
              <a:rPr lang="en-US" sz="1200" dirty="0">
                <a:solidFill>
                  <a:srgbClr val="B9D6CE"/>
                </a:solidFill>
                <a:latin typeface="Calibri" pitchFamily="34" charset="0"/>
                <a:ea typeface="Calibri" pitchFamily="34" charset="-122"/>
                <a:cs typeface="Calibri" pitchFamily="34" charset="-120"/>
              </a:rPr>
              <a:t>Reconcile, don't archive — the goal is an accurate system of record, not transcript storage.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What the developer sees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A few minutes at end of day: review and confirm instead of reconstructing from memory</a:t>
            </a:r>
            <a:endParaRPr lang="en-US" sz="1400" dirty="0"/>
          </a:p>
        </p:txBody>
      </p:sp>
      <p:sp>
        <p:nvSpPr>
          <p:cNvPr id="4" name="Shape 2"/>
          <p:cNvSpPr/>
          <p:nvPr/>
        </p:nvSpPr>
        <p:spPr>
          <a:xfrm>
            <a:off x="457200" y="1371600"/>
            <a:ext cx="5120640" cy="3337560"/>
          </a:xfrm>
          <a:prstGeom prst="roundRect">
            <a:avLst>
              <a:gd name="adj" fmla="val 2740"/>
            </a:avLst>
          </a:prstGeom>
          <a:solidFill>
            <a:srgbClr val="0E1F1C"/>
          </a:solidFill>
          <a:ln/>
        </p:spPr>
      </p:sp>
      <p:sp>
        <p:nvSpPr>
          <p:cNvPr id="5" name="Text 3"/>
          <p:cNvSpPr txBox="1"/>
          <p:nvPr/>
        </p:nvSpPr>
        <p:spPr>
          <a:xfrm>
            <a:off x="685800" y="1508760"/>
            <a:ext cx="4754880" cy="3108960"/>
          </a:xfrm>
          <a:prstGeom prst="rect">
            <a:avLst/>
          </a:prstGeom>
          <a:noFill/>
          <a:ln/>
        </p:spPr>
        <p:txBody>
          <a:bodyPr wrap="square" lIns="0" tIns="0" rIns="0" bIns="0" rtlCol="0" anchor="t"/>
          <a:lstStyle/>
          <a:p>
            <a:pPr indent="0" marL="0">
              <a:buNone/>
            </a:pPr>
            <a:r>
              <a:rPr lang="en-US" sz="1050" b="1" dirty="0">
                <a:solidFill>
                  <a:srgbClr val="E89B2E"/>
                </a:solidFill>
                <a:latin typeface="Courier New" pitchFamily="34" charset="0"/>
                <a:ea typeface="Courier New" pitchFamily="34" charset="-122"/>
                <a:cs typeface="Courier New" pitchFamily="34" charset="-120"/>
              </a:rPr>
              <a:t>$ jira-reconcile</a:t>
            </a:r>
            <a:endParaRPr lang="en-US" sz="1050" dirty="0"/>
          </a:p>
          <a:p>
            <a:pPr indent="0" marL="0">
              <a:buNone/>
            </a:pPr>
            <a:r>
              <a:rPr lang="en-US" sz="1050" dirty="0">
                <a:solidFill>
                  <a:srgbClr val="D8E6E2"/>
                </a:solidFill>
                <a:latin typeface="Courier New" pitchFamily="34" charset="0"/>
                <a:ea typeface="Courier New" pitchFamily="34" charset="-122"/>
                <a:cs typeface="Courier New" pitchFamily="34" charset="-120"/>
              </a:rPr>
              <a:t> </a:t>
            </a:r>
            <a:endParaRPr lang="en-US" sz="1050" dirty="0"/>
          </a:p>
          <a:p>
            <a:pPr indent="0" marL="0">
              <a:buNone/>
            </a:pPr>
            <a:r>
              <a:rPr lang="en-US" sz="1050" b="1" dirty="0">
                <a:solidFill>
                  <a:srgbClr val="7FD1B0"/>
                </a:solidFill>
                <a:latin typeface="Courier New" pitchFamily="34" charset="0"/>
                <a:ea typeface="Courier New" pitchFamily="34" charset="-122"/>
                <a:cs typeface="Courier New" pitchFamily="34" charset="-120"/>
              </a:rPr>
              <a:t>✓ XML reader implementation</a:t>
            </a:r>
            <a:endParaRPr lang="en-US" sz="1050" dirty="0"/>
          </a:p>
          <a:p>
            <a:pPr indent="0" marL="0">
              <a:buNone/>
            </a:pPr>
            <a:r>
              <a:rPr lang="en-US" sz="1050" dirty="0">
                <a:solidFill>
                  <a:srgbClr val="D8E6E2"/>
                </a:solidFill>
                <a:latin typeface="Courier New" pitchFamily="34" charset="0"/>
                <a:ea typeface="Courier New" pitchFamily="34" charset="-122"/>
                <a:cs typeface="Courier New" pitchFamily="34" charset="-120"/>
              </a:rPr>
              <a:t>  DATA-1842 · Add XML source support</a:t>
            </a:r>
            <a:endParaRPr lang="en-US" sz="1050" dirty="0"/>
          </a:p>
          <a:p>
            <a:pPr indent="0" marL="0">
              <a:buNone/>
            </a:pPr>
            <a:r>
              <a:rPr lang="en-US" sz="1050" dirty="0">
                <a:solidFill>
                  <a:srgbClr val="8FA9A3"/>
                </a:solidFill>
                <a:latin typeface="Courier New" pitchFamily="34" charset="0"/>
                <a:ea typeface="Courier New" pitchFamily="34" charset="-122"/>
                <a:cs typeface="Courier New" pitchFamily="34" charset="-120"/>
              </a:rPr>
              <a:t>  96% · Jira key found in Git branch</a:t>
            </a:r>
            <a:endParaRPr lang="en-US" sz="1050" dirty="0"/>
          </a:p>
          <a:p>
            <a:pPr indent="0" marL="0">
              <a:buNone/>
            </a:pPr>
            <a:r>
              <a:rPr lang="en-US" sz="1050" dirty="0">
                <a:solidFill>
                  <a:srgbClr val="D8E6E2"/>
                </a:solidFill>
                <a:latin typeface="Courier New" pitchFamily="34" charset="0"/>
                <a:ea typeface="Courier New" pitchFamily="34" charset="-122"/>
                <a:cs typeface="Courier New" pitchFamily="34" charset="-120"/>
              </a:rPr>
              <a:t> </a:t>
            </a:r>
            <a:endParaRPr lang="en-US" sz="1050" dirty="0"/>
          </a:p>
          <a:p>
            <a:pPr indent="0" marL="0">
              <a:buNone/>
            </a:pPr>
            <a:r>
              <a:rPr lang="en-US" sz="1050" b="1" dirty="0">
                <a:solidFill>
                  <a:srgbClr val="7FD1B0"/>
                </a:solidFill>
                <a:latin typeface="Courier New" pitchFamily="34" charset="0"/>
                <a:ea typeface="Courier New" pitchFamily="34" charset="-122"/>
                <a:cs typeface="Courier New" pitchFamily="34" charset="-120"/>
              </a:rPr>
              <a:t>✓ GDPR purge correction</a:t>
            </a:r>
            <a:endParaRPr lang="en-US" sz="1050" dirty="0"/>
          </a:p>
          <a:p>
            <a:pPr indent="0" marL="0">
              <a:buNone/>
            </a:pPr>
            <a:r>
              <a:rPr lang="en-US" sz="1050" dirty="0">
                <a:solidFill>
                  <a:srgbClr val="D8E6E2"/>
                </a:solidFill>
                <a:latin typeface="Courier New" pitchFamily="34" charset="0"/>
                <a:ea typeface="Courier New" pitchFamily="34" charset="-122"/>
                <a:cs typeface="Courier New" pitchFamily="34" charset="-120"/>
              </a:rPr>
              <a:t>  DATA-1933 · Update GDPR purge process</a:t>
            </a:r>
            <a:endParaRPr lang="en-US" sz="1050" dirty="0"/>
          </a:p>
          <a:p>
            <a:pPr indent="0" marL="0">
              <a:buNone/>
            </a:pPr>
            <a:r>
              <a:rPr lang="en-US" sz="1050" dirty="0">
                <a:solidFill>
                  <a:srgbClr val="8FA9A3"/>
                </a:solidFill>
                <a:latin typeface="Courier New" pitchFamily="34" charset="0"/>
                <a:ea typeface="Courier New" pitchFamily="34" charset="-122"/>
                <a:cs typeface="Courier New" pitchFamily="34" charset="-120"/>
              </a:rPr>
              <a:t>  87% · semantic + same sprint</a:t>
            </a:r>
            <a:endParaRPr lang="en-US" sz="1050" dirty="0"/>
          </a:p>
          <a:p>
            <a:pPr indent="0" marL="0">
              <a:buNone/>
            </a:pPr>
            <a:r>
              <a:rPr lang="en-US" sz="1050" dirty="0">
                <a:solidFill>
                  <a:srgbClr val="D8E6E2"/>
                </a:solidFill>
                <a:latin typeface="Courier New" pitchFamily="34" charset="0"/>
                <a:ea typeface="Courier New" pitchFamily="34" charset="-122"/>
                <a:cs typeface="Courier New" pitchFamily="34" charset="-120"/>
              </a:rPr>
              <a:t> </a:t>
            </a:r>
            <a:endParaRPr lang="en-US" sz="1050" dirty="0"/>
          </a:p>
          <a:p>
            <a:pPr indent="0" marL="0">
              <a:buNone/>
            </a:pPr>
            <a:r>
              <a:rPr lang="en-US" sz="1050" b="1" dirty="0">
                <a:solidFill>
                  <a:srgbClr val="F2B35E"/>
                </a:solidFill>
                <a:latin typeface="Courier New" pitchFamily="34" charset="0"/>
                <a:ea typeface="Courier New" pitchFamily="34" charset="-122"/>
                <a:cs typeface="Courier New" pitchFamily="34" charset="-120"/>
              </a:rPr>
              <a:t>⚠ Glue 5 compatibility investigation</a:t>
            </a:r>
            <a:endParaRPr lang="en-US" sz="1050" dirty="0"/>
          </a:p>
          <a:p>
            <a:pPr indent="0" marL="0">
              <a:buNone/>
            </a:pPr>
            <a:r>
              <a:rPr lang="en-US" sz="1050" dirty="0">
                <a:solidFill>
                  <a:srgbClr val="D8E6E2"/>
                </a:solidFill>
                <a:latin typeface="Courier New" pitchFamily="34" charset="0"/>
                <a:ea typeface="Courier New" pitchFamily="34" charset="-122"/>
                <a:cs typeface="Courier New" pitchFamily="34" charset="-120"/>
              </a:rPr>
              <a:t>  No Jira found → suggest "Validate ETL on Glue 5"</a:t>
            </a:r>
            <a:endParaRPr lang="en-US" sz="1050" dirty="0"/>
          </a:p>
          <a:p>
            <a:pPr indent="0" marL="0">
              <a:buNone/>
            </a:pPr>
            <a:r>
              <a:rPr lang="en-US" sz="1050" dirty="0">
                <a:solidFill>
                  <a:srgbClr val="D8E6E2"/>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rgbClr val="8FA9A3"/>
                </a:solidFill>
                <a:latin typeface="Courier New" pitchFamily="34" charset="0"/>
                <a:ea typeface="Courier New" pitchFamily="34" charset="-122"/>
                <a:cs typeface="Courier New" pitchFamily="34" charset="-120"/>
              </a:rPr>
              <a:t>○ MCP research → ignore / research</a:t>
            </a:r>
            <a:endParaRPr lang="en-US" sz="1050" dirty="0"/>
          </a:p>
        </p:txBody>
      </p:sp>
      <p:sp>
        <p:nvSpPr>
          <p:cNvPr id="6" name="Text 4"/>
          <p:cNvSpPr txBox="1"/>
          <p:nvPr/>
        </p:nvSpPr>
        <p:spPr>
          <a:xfrm>
            <a:off x="5897880" y="1371600"/>
            <a:ext cx="2834640" cy="36576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Every suggestion is a choice</a:t>
            </a:r>
            <a:endParaRPr lang="en-US" sz="1600" dirty="0"/>
          </a:p>
        </p:txBody>
      </p:sp>
      <p:sp>
        <p:nvSpPr>
          <p:cNvPr id="7" name="Shape 5"/>
          <p:cNvSpPr/>
          <p:nvPr/>
        </p:nvSpPr>
        <p:spPr>
          <a:xfrm>
            <a:off x="5897880" y="1828800"/>
            <a:ext cx="2788920" cy="329184"/>
          </a:xfrm>
          <a:prstGeom prst="roundRect">
            <a:avLst>
              <a:gd name="adj" fmla="val 22222"/>
            </a:avLst>
          </a:prstGeom>
          <a:solidFill>
            <a:srgbClr val="12302B"/>
          </a:solidFill>
          <a:ln/>
        </p:spPr>
      </p:sp>
      <p:sp>
        <p:nvSpPr>
          <p:cNvPr id="8" name="Text 6"/>
          <p:cNvSpPr txBox="1"/>
          <p:nvPr/>
        </p:nvSpPr>
        <p:spPr>
          <a:xfrm>
            <a:off x="6035040" y="1828800"/>
            <a:ext cx="2560320" cy="329184"/>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Confirm Jira</a:t>
            </a:r>
            <a:endParaRPr lang="en-US" sz="1200" dirty="0"/>
          </a:p>
        </p:txBody>
      </p:sp>
      <p:sp>
        <p:nvSpPr>
          <p:cNvPr id="9" name="Shape 7"/>
          <p:cNvSpPr/>
          <p:nvPr/>
        </p:nvSpPr>
        <p:spPr>
          <a:xfrm>
            <a:off x="5897880" y="2240280"/>
            <a:ext cx="2788920" cy="329184"/>
          </a:xfrm>
          <a:prstGeom prst="roundRect">
            <a:avLst>
              <a:gd name="adj" fmla="val 22222"/>
            </a:avLst>
          </a:prstGeom>
          <a:solidFill>
            <a:srgbClr val="E6F0ED"/>
          </a:solidFill>
          <a:ln/>
        </p:spPr>
      </p:sp>
      <p:sp>
        <p:nvSpPr>
          <p:cNvPr id="10" name="Text 8"/>
          <p:cNvSpPr txBox="1"/>
          <p:nvPr/>
        </p:nvSpPr>
        <p:spPr>
          <a:xfrm>
            <a:off x="6035040" y="2240280"/>
            <a:ext cx="2560320" cy="329184"/>
          </a:xfrm>
          <a:prstGeom prst="rect">
            <a:avLst/>
          </a:prstGeom>
          <a:noFill/>
          <a:ln/>
        </p:spPr>
        <p:txBody>
          <a:bodyPr wrap="square" lIns="0" tIns="0" rIns="0" bIns="0" rtlCol="0" anchor="ctr"/>
          <a:lstStyle/>
          <a:p>
            <a:pPr indent="0" marL="0">
              <a:buNone/>
            </a:pPr>
            <a:r>
              <a:rPr lang="en-US" sz="1200" dirty="0">
                <a:solidFill>
                  <a:srgbClr val="12302B"/>
                </a:solidFill>
                <a:latin typeface="Calibri" pitchFamily="34" charset="0"/>
                <a:ea typeface="Calibri" pitchFamily="34" charset="-122"/>
                <a:cs typeface="Calibri" pitchFamily="34" charset="-120"/>
              </a:rPr>
              <a:t>Choose another</a:t>
            </a:r>
            <a:endParaRPr lang="en-US" sz="1200" dirty="0"/>
          </a:p>
        </p:txBody>
      </p:sp>
      <p:sp>
        <p:nvSpPr>
          <p:cNvPr id="11" name="Shape 9"/>
          <p:cNvSpPr/>
          <p:nvPr/>
        </p:nvSpPr>
        <p:spPr>
          <a:xfrm>
            <a:off x="5897880" y="2651760"/>
            <a:ext cx="2788920" cy="329184"/>
          </a:xfrm>
          <a:prstGeom prst="roundRect">
            <a:avLst>
              <a:gd name="adj" fmla="val 22222"/>
            </a:avLst>
          </a:prstGeom>
          <a:solidFill>
            <a:srgbClr val="E6F0ED"/>
          </a:solidFill>
          <a:ln/>
        </p:spPr>
      </p:sp>
      <p:sp>
        <p:nvSpPr>
          <p:cNvPr id="12" name="Text 10"/>
          <p:cNvSpPr txBox="1"/>
          <p:nvPr/>
        </p:nvSpPr>
        <p:spPr>
          <a:xfrm>
            <a:off x="6035040" y="2651760"/>
            <a:ext cx="2560320" cy="329184"/>
          </a:xfrm>
          <a:prstGeom prst="rect">
            <a:avLst/>
          </a:prstGeom>
          <a:noFill/>
          <a:ln/>
        </p:spPr>
        <p:txBody>
          <a:bodyPr wrap="square" lIns="0" tIns="0" rIns="0" bIns="0" rtlCol="0" anchor="ctr"/>
          <a:lstStyle/>
          <a:p>
            <a:pPr indent="0" marL="0">
              <a:buNone/>
            </a:pPr>
            <a:r>
              <a:rPr lang="en-US" sz="1200" dirty="0">
                <a:solidFill>
                  <a:srgbClr val="12302B"/>
                </a:solidFill>
                <a:latin typeface="Calibri" pitchFamily="34" charset="0"/>
                <a:ea typeface="Calibri" pitchFamily="34" charset="-122"/>
                <a:cs typeface="Calibri" pitchFamily="34" charset="-120"/>
              </a:rPr>
              <a:t>Create Jira / subtask</a:t>
            </a:r>
            <a:endParaRPr lang="en-US" sz="1200" dirty="0"/>
          </a:p>
        </p:txBody>
      </p:sp>
      <p:sp>
        <p:nvSpPr>
          <p:cNvPr id="13" name="Shape 11"/>
          <p:cNvSpPr/>
          <p:nvPr/>
        </p:nvSpPr>
        <p:spPr>
          <a:xfrm>
            <a:off x="5897880" y="3063240"/>
            <a:ext cx="2788920" cy="329184"/>
          </a:xfrm>
          <a:prstGeom prst="roundRect">
            <a:avLst>
              <a:gd name="adj" fmla="val 22222"/>
            </a:avLst>
          </a:prstGeom>
          <a:solidFill>
            <a:srgbClr val="E6F0ED"/>
          </a:solidFill>
          <a:ln/>
        </p:spPr>
      </p:sp>
      <p:sp>
        <p:nvSpPr>
          <p:cNvPr id="14" name="Text 12"/>
          <p:cNvSpPr txBox="1"/>
          <p:nvPr/>
        </p:nvSpPr>
        <p:spPr>
          <a:xfrm>
            <a:off x="6035040" y="3063240"/>
            <a:ext cx="2560320" cy="329184"/>
          </a:xfrm>
          <a:prstGeom prst="rect">
            <a:avLst/>
          </a:prstGeom>
          <a:noFill/>
          <a:ln/>
        </p:spPr>
        <p:txBody>
          <a:bodyPr wrap="square" lIns="0" tIns="0" rIns="0" bIns="0" rtlCol="0" anchor="ctr"/>
          <a:lstStyle/>
          <a:p>
            <a:pPr indent="0" marL="0">
              <a:buNone/>
            </a:pPr>
            <a:r>
              <a:rPr lang="en-US" sz="1200" dirty="0">
                <a:solidFill>
                  <a:srgbClr val="12302B"/>
                </a:solidFill>
                <a:latin typeface="Calibri" pitchFamily="34" charset="0"/>
                <a:ea typeface="Calibri" pitchFamily="34" charset="-122"/>
                <a:cs typeface="Calibri" pitchFamily="34" charset="-120"/>
              </a:rPr>
              <a:t>Split across items</a:t>
            </a:r>
            <a:endParaRPr lang="en-US" sz="1200" dirty="0"/>
          </a:p>
        </p:txBody>
      </p:sp>
      <p:sp>
        <p:nvSpPr>
          <p:cNvPr id="15" name="Shape 13"/>
          <p:cNvSpPr/>
          <p:nvPr/>
        </p:nvSpPr>
        <p:spPr>
          <a:xfrm>
            <a:off x="5897880" y="3474720"/>
            <a:ext cx="2788920" cy="329184"/>
          </a:xfrm>
          <a:prstGeom prst="roundRect">
            <a:avLst>
              <a:gd name="adj" fmla="val 22222"/>
            </a:avLst>
          </a:prstGeom>
          <a:solidFill>
            <a:srgbClr val="E6F0ED"/>
          </a:solidFill>
          <a:ln/>
        </p:spPr>
      </p:sp>
      <p:sp>
        <p:nvSpPr>
          <p:cNvPr id="16" name="Text 14"/>
          <p:cNvSpPr txBox="1"/>
          <p:nvPr/>
        </p:nvSpPr>
        <p:spPr>
          <a:xfrm>
            <a:off x="6035040" y="3474720"/>
            <a:ext cx="2560320" cy="329184"/>
          </a:xfrm>
          <a:prstGeom prst="rect">
            <a:avLst/>
          </a:prstGeom>
          <a:noFill/>
          <a:ln/>
        </p:spPr>
        <p:txBody>
          <a:bodyPr wrap="square" lIns="0" tIns="0" rIns="0" bIns="0" rtlCol="0" anchor="ctr"/>
          <a:lstStyle/>
          <a:p>
            <a:pPr indent="0" marL="0">
              <a:buNone/>
            </a:pPr>
            <a:r>
              <a:rPr lang="en-US" sz="1200" dirty="0">
                <a:solidFill>
                  <a:srgbClr val="12302B"/>
                </a:solidFill>
                <a:latin typeface="Calibri" pitchFamily="34" charset="0"/>
                <a:ea typeface="Calibri" pitchFamily="34" charset="-122"/>
                <a:cs typeface="Calibri" pitchFamily="34" charset="-120"/>
              </a:rPr>
              <a:t>Ignore</a:t>
            </a:r>
            <a:endParaRPr lang="en-US" sz="1200" dirty="0"/>
          </a:p>
        </p:txBody>
      </p:sp>
      <p:sp>
        <p:nvSpPr>
          <p:cNvPr id="17" name="Text 15"/>
          <p:cNvSpPr txBox="1"/>
          <p:nvPr/>
        </p:nvSpPr>
        <p:spPr>
          <a:xfrm>
            <a:off x="5897880" y="3977640"/>
            <a:ext cx="2834640" cy="731520"/>
          </a:xfrm>
          <a:prstGeom prst="rect">
            <a:avLst/>
          </a:prstGeom>
          <a:noFill/>
          <a:ln/>
        </p:spPr>
        <p:txBody>
          <a:bodyPr wrap="square" lIns="0" tIns="0" rIns="0" bIns="0" rtlCol="0" anchor="ctr"/>
          <a:lstStyle/>
          <a:p>
            <a:pPr indent="0" marL="0">
              <a:buNone/>
            </a:pPr>
            <a:r>
              <a:rPr lang="en-US" sz="1200" i="1" dirty="0">
                <a:solidFill>
                  <a:srgbClr val="5E706C"/>
                </a:solidFill>
                <a:latin typeface="Calibri" pitchFamily="34" charset="0"/>
                <a:ea typeface="Calibri" pitchFamily="34" charset="-122"/>
                <a:cs typeface="Calibri" pitchFamily="34" charset="-120"/>
              </a:rPr>
              <a:t>AI proposes → developer confirms → WorkTrace writes. The developer stays authoritative.</a:t>
            </a:r>
            <a:endParaRPr lang="en-US" sz="1200" dirty="0"/>
          </a:p>
        </p:txBody>
      </p:sp>
      <p:sp>
        <p:nvSpPr>
          <p:cNvPr id="18" name="Text 16"/>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How matching works: evidence before inference</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Deterministic signals first; AI only when needed; human always has the final say</a:t>
            </a:r>
            <a:endParaRPr lang="en-US" sz="1400" dirty="0"/>
          </a:p>
        </p:txBody>
      </p:sp>
      <p:sp>
        <p:nvSpPr>
          <p:cNvPr id="4" name="Shape 2"/>
          <p:cNvSpPr/>
          <p:nvPr/>
        </p:nvSpPr>
        <p:spPr>
          <a:xfrm>
            <a:off x="457200" y="1371600"/>
            <a:ext cx="5394960" cy="457200"/>
          </a:xfrm>
          <a:prstGeom prst="roundRect">
            <a:avLst>
              <a:gd name="adj" fmla="val 16000"/>
            </a:avLst>
          </a:prstGeom>
          <a:solidFill>
            <a:srgbClr val="E6F0ED"/>
          </a:solidFill>
          <a:ln/>
        </p:spPr>
      </p:sp>
      <p:sp>
        <p:nvSpPr>
          <p:cNvPr id="5" name="Shape 3"/>
          <p:cNvSpPr/>
          <p:nvPr/>
        </p:nvSpPr>
        <p:spPr>
          <a:xfrm>
            <a:off x="548640" y="1408176"/>
            <a:ext cx="384048" cy="384048"/>
          </a:xfrm>
          <a:prstGeom prst="ellipse">
            <a:avLst/>
          </a:prstGeom>
          <a:solidFill>
            <a:srgbClr val="12302B"/>
          </a:solidFill>
          <a:ln/>
        </p:spPr>
      </p:sp>
      <p:sp>
        <p:nvSpPr>
          <p:cNvPr id="6" name="Text 4"/>
          <p:cNvSpPr txBox="1"/>
          <p:nvPr/>
        </p:nvSpPr>
        <p:spPr>
          <a:xfrm>
            <a:off x="548640" y="1408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51560" y="1371600"/>
            <a:ext cx="1645920" cy="457200"/>
          </a:xfrm>
          <a:prstGeom prst="rect">
            <a:avLst/>
          </a:prstGeom>
          <a:noFill/>
          <a:ln/>
        </p:spPr>
        <p:txBody>
          <a:bodyPr wrap="square" lIns="0" tIns="0" rIns="0" bIns="0" rtlCol="0" anchor="ctr"/>
          <a:lstStyle/>
          <a:p>
            <a:pPr indent="0" marL="0">
              <a:buNone/>
            </a:pPr>
            <a:r>
              <a:rPr lang="en-US" sz="1300" b="1" dirty="0">
                <a:solidFill>
                  <a:srgbClr val="12302B"/>
                </a:solidFill>
                <a:latin typeface="Calibri" pitchFamily="34" charset="0"/>
                <a:ea typeface="Calibri" pitchFamily="34" charset="-122"/>
                <a:cs typeface="Calibri" pitchFamily="34" charset="-120"/>
              </a:rPr>
              <a:t>Exact Jira key</a:t>
            </a:r>
            <a:endParaRPr lang="en-US" sz="1300" dirty="0"/>
          </a:p>
        </p:txBody>
      </p:sp>
      <p:sp>
        <p:nvSpPr>
          <p:cNvPr id="8" name="Text 6"/>
          <p:cNvSpPr txBox="1"/>
          <p:nvPr/>
        </p:nvSpPr>
        <p:spPr>
          <a:xfrm>
            <a:off x="2697480" y="1371600"/>
            <a:ext cx="3108960" cy="457200"/>
          </a:xfrm>
          <a:prstGeom prst="rect">
            <a:avLst/>
          </a:prstGeom>
          <a:noFill/>
          <a:ln/>
        </p:spPr>
        <p:txBody>
          <a:bodyPr wrap="square" lIns="0" tIns="0" rIns="0" bIns="0" rtlCol="0" anchor="ctr"/>
          <a:lstStyle/>
          <a:p>
            <a:pPr indent="0" marL="0">
              <a:buNone/>
            </a:pPr>
            <a:r>
              <a:rPr lang="en-US" sz="1150" dirty="0">
                <a:solidFill>
                  <a:srgbClr val="1B2B28"/>
                </a:solidFill>
                <a:latin typeface="Calibri" pitchFamily="34" charset="0"/>
                <a:ea typeface="Calibri" pitchFamily="34" charset="-122"/>
                <a:cs typeface="Calibri" pitchFamily="34" charset="-120"/>
              </a:rPr>
              <a:t>In branch, commit, PR, or session text</a:t>
            </a:r>
            <a:endParaRPr lang="en-US" sz="1150" dirty="0"/>
          </a:p>
        </p:txBody>
      </p:sp>
      <p:sp>
        <p:nvSpPr>
          <p:cNvPr id="9" name="Shape 7"/>
          <p:cNvSpPr/>
          <p:nvPr/>
        </p:nvSpPr>
        <p:spPr>
          <a:xfrm>
            <a:off x="457200" y="1920240"/>
            <a:ext cx="5394960" cy="457200"/>
          </a:xfrm>
          <a:prstGeom prst="roundRect">
            <a:avLst>
              <a:gd name="adj" fmla="val 16000"/>
            </a:avLst>
          </a:prstGeom>
          <a:solidFill>
            <a:srgbClr val="E6F0ED"/>
          </a:solidFill>
          <a:ln/>
        </p:spPr>
      </p:sp>
      <p:sp>
        <p:nvSpPr>
          <p:cNvPr id="10" name="Shape 8"/>
          <p:cNvSpPr/>
          <p:nvPr/>
        </p:nvSpPr>
        <p:spPr>
          <a:xfrm>
            <a:off x="548640" y="1956816"/>
            <a:ext cx="384048" cy="384048"/>
          </a:xfrm>
          <a:prstGeom prst="ellipse">
            <a:avLst/>
          </a:prstGeom>
          <a:solidFill>
            <a:srgbClr val="12302B"/>
          </a:solidFill>
          <a:ln/>
        </p:spPr>
      </p:sp>
      <p:sp>
        <p:nvSpPr>
          <p:cNvPr id="11" name="Text 9"/>
          <p:cNvSpPr txBox="1"/>
          <p:nvPr/>
        </p:nvSpPr>
        <p:spPr>
          <a:xfrm>
            <a:off x="548640" y="19568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051560" y="1920240"/>
            <a:ext cx="1645920" cy="457200"/>
          </a:xfrm>
          <a:prstGeom prst="rect">
            <a:avLst/>
          </a:prstGeom>
          <a:noFill/>
          <a:ln/>
        </p:spPr>
        <p:txBody>
          <a:bodyPr wrap="square" lIns="0" tIns="0" rIns="0" bIns="0" rtlCol="0" anchor="ctr"/>
          <a:lstStyle/>
          <a:p>
            <a:pPr indent="0" marL="0">
              <a:buNone/>
            </a:pPr>
            <a:r>
              <a:rPr lang="en-US" sz="1300" b="1" dirty="0">
                <a:solidFill>
                  <a:srgbClr val="12302B"/>
                </a:solidFill>
                <a:latin typeface="Calibri" pitchFamily="34" charset="0"/>
                <a:ea typeface="Calibri" pitchFamily="34" charset="-122"/>
                <a:cs typeface="Calibri" pitchFamily="34" charset="-120"/>
              </a:rPr>
              <a:t>Git / dev evidence</a:t>
            </a:r>
            <a:endParaRPr lang="en-US" sz="1300" dirty="0"/>
          </a:p>
        </p:txBody>
      </p:sp>
      <p:sp>
        <p:nvSpPr>
          <p:cNvPr id="13" name="Text 11"/>
          <p:cNvSpPr txBox="1"/>
          <p:nvPr/>
        </p:nvSpPr>
        <p:spPr>
          <a:xfrm>
            <a:off x="2697480" y="1920240"/>
            <a:ext cx="3108960" cy="457200"/>
          </a:xfrm>
          <a:prstGeom prst="rect">
            <a:avLst/>
          </a:prstGeom>
          <a:noFill/>
          <a:ln/>
        </p:spPr>
        <p:txBody>
          <a:bodyPr wrap="square" lIns="0" tIns="0" rIns="0" bIns="0" rtlCol="0" anchor="ctr"/>
          <a:lstStyle/>
          <a:p>
            <a:pPr indent="0" marL="0">
              <a:buNone/>
            </a:pPr>
            <a:r>
              <a:rPr lang="en-US" sz="1150" dirty="0">
                <a:solidFill>
                  <a:srgbClr val="1B2B28"/>
                </a:solidFill>
                <a:latin typeface="Calibri" pitchFamily="34" charset="0"/>
                <a:ea typeface="Calibri" pitchFamily="34" charset="-122"/>
                <a:cs typeface="Calibri" pitchFamily="34" charset="-120"/>
              </a:rPr>
              <a:t>Same repo, branch, linked PR, changed files</a:t>
            </a:r>
            <a:endParaRPr lang="en-US" sz="1150" dirty="0"/>
          </a:p>
        </p:txBody>
      </p:sp>
      <p:sp>
        <p:nvSpPr>
          <p:cNvPr id="14" name="Shape 12"/>
          <p:cNvSpPr/>
          <p:nvPr/>
        </p:nvSpPr>
        <p:spPr>
          <a:xfrm>
            <a:off x="457200" y="2468880"/>
            <a:ext cx="5394960" cy="457200"/>
          </a:xfrm>
          <a:prstGeom prst="roundRect">
            <a:avLst>
              <a:gd name="adj" fmla="val 16000"/>
            </a:avLst>
          </a:prstGeom>
          <a:solidFill>
            <a:srgbClr val="E6F0ED"/>
          </a:solidFill>
          <a:ln/>
        </p:spPr>
      </p:sp>
      <p:sp>
        <p:nvSpPr>
          <p:cNvPr id="15" name="Shape 13"/>
          <p:cNvSpPr/>
          <p:nvPr/>
        </p:nvSpPr>
        <p:spPr>
          <a:xfrm>
            <a:off x="548640" y="2505456"/>
            <a:ext cx="384048" cy="384048"/>
          </a:xfrm>
          <a:prstGeom prst="ellipse">
            <a:avLst/>
          </a:prstGeom>
          <a:solidFill>
            <a:srgbClr val="1F4A42"/>
          </a:solidFill>
          <a:ln/>
        </p:spPr>
      </p:sp>
      <p:sp>
        <p:nvSpPr>
          <p:cNvPr id="16" name="Text 14"/>
          <p:cNvSpPr txBox="1"/>
          <p:nvPr/>
        </p:nvSpPr>
        <p:spPr>
          <a:xfrm>
            <a:off x="548640" y="2505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051560" y="2468880"/>
            <a:ext cx="1645920" cy="457200"/>
          </a:xfrm>
          <a:prstGeom prst="rect">
            <a:avLst/>
          </a:prstGeom>
          <a:noFill/>
          <a:ln/>
        </p:spPr>
        <p:txBody>
          <a:bodyPr wrap="square" lIns="0" tIns="0" rIns="0" bIns="0" rtlCol="0" anchor="ctr"/>
          <a:lstStyle/>
          <a:p>
            <a:pPr indent="0" marL="0">
              <a:buNone/>
            </a:pPr>
            <a:r>
              <a:rPr lang="en-US" sz="1300" b="1" dirty="0">
                <a:solidFill>
                  <a:srgbClr val="12302B"/>
                </a:solidFill>
                <a:latin typeface="Calibri" pitchFamily="34" charset="0"/>
                <a:ea typeface="Calibri" pitchFamily="34" charset="-122"/>
                <a:cs typeface="Calibri" pitchFamily="34" charset="-120"/>
              </a:rPr>
              <a:t>Active Jira scope</a:t>
            </a:r>
            <a:endParaRPr lang="en-US" sz="1300" dirty="0"/>
          </a:p>
        </p:txBody>
      </p:sp>
      <p:sp>
        <p:nvSpPr>
          <p:cNvPr id="18" name="Text 16"/>
          <p:cNvSpPr txBox="1"/>
          <p:nvPr/>
        </p:nvSpPr>
        <p:spPr>
          <a:xfrm>
            <a:off x="2697480" y="2468880"/>
            <a:ext cx="3108960" cy="457200"/>
          </a:xfrm>
          <a:prstGeom prst="rect">
            <a:avLst/>
          </a:prstGeom>
          <a:noFill/>
          <a:ln/>
        </p:spPr>
        <p:txBody>
          <a:bodyPr wrap="square" lIns="0" tIns="0" rIns="0" bIns="0" rtlCol="0" anchor="ctr"/>
          <a:lstStyle/>
          <a:p>
            <a:pPr indent="0" marL="0">
              <a:buNone/>
            </a:pPr>
            <a:r>
              <a:rPr lang="en-US" sz="1150" dirty="0">
                <a:solidFill>
                  <a:srgbClr val="1B2B28"/>
                </a:solidFill>
                <a:latin typeface="Calibri" pitchFamily="34" charset="0"/>
                <a:ea typeface="Calibri" pitchFamily="34" charset="-122"/>
                <a:cs typeface="Calibri" pitchFamily="34" charset="-120"/>
              </a:rPr>
              <a:t>My open items, current sprint, same project</a:t>
            </a:r>
            <a:endParaRPr lang="en-US" sz="1150" dirty="0"/>
          </a:p>
        </p:txBody>
      </p:sp>
      <p:sp>
        <p:nvSpPr>
          <p:cNvPr id="19" name="Shape 17"/>
          <p:cNvSpPr/>
          <p:nvPr/>
        </p:nvSpPr>
        <p:spPr>
          <a:xfrm>
            <a:off x="457200" y="3017520"/>
            <a:ext cx="5394960" cy="457200"/>
          </a:xfrm>
          <a:prstGeom prst="roundRect">
            <a:avLst>
              <a:gd name="adj" fmla="val 16000"/>
            </a:avLst>
          </a:prstGeom>
          <a:solidFill>
            <a:srgbClr val="E6F0ED"/>
          </a:solidFill>
          <a:ln/>
        </p:spPr>
      </p:sp>
      <p:sp>
        <p:nvSpPr>
          <p:cNvPr id="20" name="Shape 18"/>
          <p:cNvSpPr/>
          <p:nvPr/>
        </p:nvSpPr>
        <p:spPr>
          <a:xfrm>
            <a:off x="548640" y="3054096"/>
            <a:ext cx="384048" cy="384048"/>
          </a:xfrm>
          <a:prstGeom prst="ellipse">
            <a:avLst/>
          </a:prstGeom>
          <a:solidFill>
            <a:srgbClr val="4F7F74"/>
          </a:solidFill>
          <a:ln/>
        </p:spPr>
      </p:sp>
      <p:sp>
        <p:nvSpPr>
          <p:cNvPr id="21" name="Text 19"/>
          <p:cNvSpPr txBox="1"/>
          <p:nvPr/>
        </p:nvSpPr>
        <p:spPr>
          <a:xfrm>
            <a:off x="548640" y="30540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051560" y="3017520"/>
            <a:ext cx="1645920" cy="457200"/>
          </a:xfrm>
          <a:prstGeom prst="rect">
            <a:avLst/>
          </a:prstGeom>
          <a:noFill/>
          <a:ln/>
        </p:spPr>
        <p:txBody>
          <a:bodyPr wrap="square" lIns="0" tIns="0" rIns="0" bIns="0" rtlCol="0" anchor="ctr"/>
          <a:lstStyle/>
          <a:p>
            <a:pPr indent="0" marL="0">
              <a:buNone/>
            </a:pPr>
            <a:r>
              <a:rPr lang="en-US" sz="1300" b="1" dirty="0">
                <a:solidFill>
                  <a:srgbClr val="12302B"/>
                </a:solidFill>
                <a:latin typeface="Calibri" pitchFamily="34" charset="0"/>
                <a:ea typeface="Calibri" pitchFamily="34" charset="-122"/>
                <a:cs typeface="Calibri" pitchFamily="34" charset="-120"/>
              </a:rPr>
              <a:t>Semantic similarity</a:t>
            </a:r>
            <a:endParaRPr lang="en-US" sz="1300" dirty="0"/>
          </a:p>
        </p:txBody>
      </p:sp>
      <p:sp>
        <p:nvSpPr>
          <p:cNvPr id="23" name="Text 21"/>
          <p:cNvSpPr txBox="1"/>
          <p:nvPr/>
        </p:nvSpPr>
        <p:spPr>
          <a:xfrm>
            <a:off x="2697480" y="3017520"/>
            <a:ext cx="3108960" cy="457200"/>
          </a:xfrm>
          <a:prstGeom prst="rect">
            <a:avLst/>
          </a:prstGeom>
          <a:noFill/>
          <a:ln/>
        </p:spPr>
        <p:txBody>
          <a:bodyPr wrap="square" lIns="0" tIns="0" rIns="0" bIns="0" rtlCol="0" anchor="ctr"/>
          <a:lstStyle/>
          <a:p>
            <a:pPr indent="0" marL="0">
              <a:buNone/>
            </a:pPr>
            <a:r>
              <a:rPr lang="en-US" sz="1150" dirty="0">
                <a:solidFill>
                  <a:srgbClr val="1B2B28"/>
                </a:solidFill>
                <a:latin typeface="Calibri" pitchFamily="34" charset="0"/>
                <a:ea typeface="Calibri" pitchFamily="34" charset="-122"/>
                <a:cs typeface="Calibri" pitchFamily="34" charset="-120"/>
              </a:rPr>
              <a:t>Work summary vs. Jira title + description</a:t>
            </a:r>
            <a:endParaRPr lang="en-US" sz="1150" dirty="0"/>
          </a:p>
        </p:txBody>
      </p:sp>
      <p:sp>
        <p:nvSpPr>
          <p:cNvPr id="24" name="Shape 22"/>
          <p:cNvSpPr/>
          <p:nvPr/>
        </p:nvSpPr>
        <p:spPr>
          <a:xfrm>
            <a:off x="457200" y="3566160"/>
            <a:ext cx="5394960" cy="457200"/>
          </a:xfrm>
          <a:prstGeom prst="roundRect">
            <a:avLst>
              <a:gd name="adj" fmla="val 16000"/>
            </a:avLst>
          </a:prstGeom>
          <a:solidFill>
            <a:srgbClr val="E6F0ED"/>
          </a:solidFill>
          <a:ln/>
        </p:spPr>
      </p:sp>
      <p:sp>
        <p:nvSpPr>
          <p:cNvPr id="25" name="Shape 23"/>
          <p:cNvSpPr/>
          <p:nvPr/>
        </p:nvSpPr>
        <p:spPr>
          <a:xfrm>
            <a:off x="548640" y="3602736"/>
            <a:ext cx="384048" cy="384048"/>
          </a:xfrm>
          <a:prstGeom prst="ellipse">
            <a:avLst/>
          </a:prstGeom>
          <a:solidFill>
            <a:srgbClr val="4F7F74"/>
          </a:solidFill>
          <a:ln/>
        </p:spPr>
      </p:sp>
      <p:sp>
        <p:nvSpPr>
          <p:cNvPr id="26" name="Text 24"/>
          <p:cNvSpPr txBox="1"/>
          <p:nvPr/>
        </p:nvSpPr>
        <p:spPr>
          <a:xfrm>
            <a:off x="548640"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051560" y="3566160"/>
            <a:ext cx="1645920" cy="457200"/>
          </a:xfrm>
          <a:prstGeom prst="rect">
            <a:avLst/>
          </a:prstGeom>
          <a:noFill/>
          <a:ln/>
        </p:spPr>
        <p:txBody>
          <a:bodyPr wrap="square" lIns="0" tIns="0" rIns="0" bIns="0" rtlCol="0" anchor="ctr"/>
          <a:lstStyle/>
          <a:p>
            <a:pPr indent="0" marL="0">
              <a:buNone/>
            </a:pPr>
            <a:r>
              <a:rPr lang="en-US" sz="1300" b="1" dirty="0">
                <a:solidFill>
                  <a:srgbClr val="12302B"/>
                </a:solidFill>
                <a:latin typeface="Calibri" pitchFamily="34" charset="0"/>
                <a:ea typeface="Calibri" pitchFamily="34" charset="-122"/>
                <a:cs typeface="Calibri" pitchFamily="34" charset="-120"/>
              </a:rPr>
              <a:t>LLM reasoning</a:t>
            </a:r>
            <a:endParaRPr lang="en-US" sz="1300" dirty="0"/>
          </a:p>
        </p:txBody>
      </p:sp>
      <p:sp>
        <p:nvSpPr>
          <p:cNvPr id="28" name="Text 26"/>
          <p:cNvSpPr txBox="1"/>
          <p:nvPr/>
        </p:nvSpPr>
        <p:spPr>
          <a:xfrm>
            <a:off x="2697480" y="3566160"/>
            <a:ext cx="3108960" cy="457200"/>
          </a:xfrm>
          <a:prstGeom prst="rect">
            <a:avLst/>
          </a:prstGeom>
          <a:noFill/>
          <a:ln/>
        </p:spPr>
        <p:txBody>
          <a:bodyPr wrap="square" lIns="0" tIns="0" rIns="0" bIns="0" rtlCol="0" anchor="ctr"/>
          <a:lstStyle/>
          <a:p>
            <a:pPr indent="0" marL="0">
              <a:buNone/>
            </a:pPr>
            <a:r>
              <a:rPr lang="en-US" sz="1150" dirty="0">
                <a:solidFill>
                  <a:srgbClr val="1B2B28"/>
                </a:solidFill>
                <a:latin typeface="Calibri" pitchFamily="34" charset="0"/>
                <a:ea typeface="Calibri" pitchFamily="34" charset="-122"/>
                <a:cs typeface="Calibri" pitchFamily="34" charset="-120"/>
              </a:rPr>
              <a:t>Ranks bounded candidates using supplied evidence only</a:t>
            </a:r>
            <a:endParaRPr lang="en-US" sz="1150" dirty="0"/>
          </a:p>
        </p:txBody>
      </p:sp>
      <p:sp>
        <p:nvSpPr>
          <p:cNvPr id="29" name="Shape 27"/>
          <p:cNvSpPr/>
          <p:nvPr/>
        </p:nvSpPr>
        <p:spPr>
          <a:xfrm>
            <a:off x="457200" y="4114800"/>
            <a:ext cx="5394960" cy="457200"/>
          </a:xfrm>
          <a:prstGeom prst="roundRect">
            <a:avLst>
              <a:gd name="adj" fmla="val 16000"/>
            </a:avLst>
          </a:prstGeom>
          <a:solidFill>
            <a:srgbClr val="FCF1DF"/>
          </a:solidFill>
          <a:ln/>
        </p:spPr>
      </p:sp>
      <p:sp>
        <p:nvSpPr>
          <p:cNvPr id="30" name="Shape 28"/>
          <p:cNvSpPr/>
          <p:nvPr/>
        </p:nvSpPr>
        <p:spPr>
          <a:xfrm>
            <a:off x="548640" y="4151376"/>
            <a:ext cx="384048" cy="384048"/>
          </a:xfrm>
          <a:prstGeom prst="ellipse">
            <a:avLst/>
          </a:prstGeom>
          <a:solidFill>
            <a:srgbClr val="E89B2E"/>
          </a:solidFill>
          <a:ln/>
        </p:spPr>
      </p:sp>
      <p:sp>
        <p:nvSpPr>
          <p:cNvPr id="31" name="Text 29"/>
          <p:cNvSpPr txBox="1"/>
          <p:nvPr/>
        </p:nvSpPr>
        <p:spPr>
          <a:xfrm>
            <a:off x="548640" y="4151376"/>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1051560" y="4114800"/>
            <a:ext cx="1645920" cy="457200"/>
          </a:xfrm>
          <a:prstGeom prst="rect">
            <a:avLst/>
          </a:prstGeom>
          <a:noFill/>
          <a:ln/>
        </p:spPr>
        <p:txBody>
          <a:bodyPr wrap="square" lIns="0" tIns="0" rIns="0" bIns="0" rtlCol="0" anchor="ctr"/>
          <a:lstStyle/>
          <a:p>
            <a:pPr indent="0" marL="0">
              <a:buNone/>
            </a:pPr>
            <a:r>
              <a:rPr lang="en-US" sz="1300" b="1" dirty="0">
                <a:solidFill>
                  <a:srgbClr val="12302B"/>
                </a:solidFill>
                <a:latin typeface="Calibri" pitchFamily="34" charset="0"/>
                <a:ea typeface="Calibri" pitchFamily="34" charset="-122"/>
                <a:cs typeface="Calibri" pitchFamily="34" charset="-120"/>
              </a:rPr>
              <a:t>Human confirmation</a:t>
            </a:r>
            <a:endParaRPr lang="en-US" sz="1300" dirty="0"/>
          </a:p>
        </p:txBody>
      </p:sp>
      <p:sp>
        <p:nvSpPr>
          <p:cNvPr id="33" name="Text 31"/>
          <p:cNvSpPr txBox="1"/>
          <p:nvPr/>
        </p:nvSpPr>
        <p:spPr>
          <a:xfrm>
            <a:off x="2697480" y="4114800"/>
            <a:ext cx="3108960" cy="457200"/>
          </a:xfrm>
          <a:prstGeom prst="rect">
            <a:avLst/>
          </a:prstGeom>
          <a:noFill/>
          <a:ln/>
        </p:spPr>
        <p:txBody>
          <a:bodyPr wrap="square" lIns="0" tIns="0" rIns="0" bIns="0" rtlCol="0" anchor="ctr"/>
          <a:lstStyle/>
          <a:p>
            <a:pPr indent="0" marL="0">
              <a:buNone/>
            </a:pPr>
            <a:r>
              <a:rPr lang="en-US" sz="1150" dirty="0">
                <a:solidFill>
                  <a:srgbClr val="1B2B28"/>
                </a:solidFill>
                <a:latin typeface="Calibri" pitchFamily="34" charset="0"/>
                <a:ea typeface="Calibri" pitchFamily="34" charset="-122"/>
                <a:cs typeface="Calibri" pitchFamily="34" charset="-120"/>
              </a:rPr>
              <a:t>Corrections are persisted</a:t>
            </a:r>
            <a:endParaRPr lang="en-US" sz="1150" dirty="0"/>
          </a:p>
        </p:txBody>
      </p:sp>
      <p:sp>
        <p:nvSpPr>
          <p:cNvPr id="34" name="Shape 32"/>
          <p:cNvSpPr/>
          <p:nvPr/>
        </p:nvSpPr>
        <p:spPr>
          <a:xfrm>
            <a:off x="6172200" y="1371600"/>
            <a:ext cx="2514600" cy="3200400"/>
          </a:xfrm>
          <a:prstGeom prst="roundRect">
            <a:avLst>
              <a:gd name="adj" fmla="val 4364"/>
            </a:avLst>
          </a:prstGeom>
          <a:solidFill>
            <a:srgbClr val="12302B"/>
          </a:solidFill>
          <a:ln/>
        </p:spPr>
      </p:sp>
      <p:sp>
        <p:nvSpPr>
          <p:cNvPr id="35" name="Text 33"/>
          <p:cNvSpPr txBox="1"/>
          <p:nvPr/>
        </p:nvSpPr>
        <p:spPr>
          <a:xfrm>
            <a:off x="6355080" y="1508760"/>
            <a:ext cx="21945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Explainable by design</a:t>
            </a:r>
            <a:endParaRPr lang="en-US" sz="1500" dirty="0"/>
          </a:p>
        </p:txBody>
      </p:sp>
      <p:sp>
        <p:nvSpPr>
          <p:cNvPr id="36" name="Text 34"/>
          <p:cNvSpPr txBox="1"/>
          <p:nvPr/>
        </p:nvSpPr>
        <p:spPr>
          <a:xfrm>
            <a:off x="6355080" y="1920240"/>
            <a:ext cx="2194560" cy="274320"/>
          </a:xfrm>
          <a:prstGeom prst="rect">
            <a:avLst/>
          </a:prstGeom>
          <a:noFill/>
          <a:ln/>
        </p:spPr>
        <p:txBody>
          <a:bodyPr wrap="square" lIns="0" tIns="0" rIns="0" bIns="0" rtlCol="0" anchor="ctr"/>
          <a:lstStyle/>
          <a:p>
            <a:pPr indent="0" marL="0">
              <a:buNone/>
            </a:pPr>
            <a:r>
              <a:rPr lang="en-US" sz="1200" dirty="0">
                <a:solidFill>
                  <a:srgbClr val="B9D6CE"/>
                </a:solidFill>
                <a:latin typeface="Calibri" pitchFamily="34" charset="0"/>
                <a:ea typeface="Calibri" pitchFamily="34" charset="-122"/>
                <a:cs typeface="Calibri" pitchFamily="34" charset="-120"/>
              </a:rPr>
              <a:t>Every suggestion ships with:</a:t>
            </a:r>
            <a:endParaRPr lang="en-US" sz="1200" dirty="0"/>
          </a:p>
        </p:txBody>
      </p:sp>
      <p:sp>
        <p:nvSpPr>
          <p:cNvPr id="37" name="Text 35"/>
          <p:cNvSpPr txBox="1"/>
          <p:nvPr/>
        </p:nvSpPr>
        <p:spPr>
          <a:xfrm>
            <a:off x="6355080" y="2240280"/>
            <a:ext cx="2194560" cy="91440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Candidate Jira</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Confidence score</a:t>
            </a:r>
            <a:endParaRPr lang="en-US" sz="1300" dirty="0"/>
          </a:p>
          <a:p>
            <a:pPr marL="342900" indent="-342900">
              <a:spcAft>
                <a:spcPts val="400"/>
              </a:spcAft>
              <a:buSzPct val="100000"/>
              <a:buChar char="•"/>
            </a:pPr>
            <a:r>
              <a:rPr lang="en-US" sz="1300" dirty="0">
                <a:solidFill>
                  <a:srgbClr val="FFFFFF"/>
                </a:solidFill>
                <a:latin typeface="Calibri" pitchFamily="34" charset="0"/>
                <a:ea typeface="Calibri" pitchFamily="34" charset="-122"/>
                <a:cs typeface="Calibri" pitchFamily="34" charset="-120"/>
              </a:rPr>
              <a:t>The evidence behind it</a:t>
            </a:r>
            <a:endParaRPr lang="en-US" sz="1300" dirty="0"/>
          </a:p>
        </p:txBody>
      </p:sp>
      <p:sp>
        <p:nvSpPr>
          <p:cNvPr id="38" name="Text 36"/>
          <p:cNvSpPr txBox="1"/>
          <p:nvPr/>
        </p:nvSpPr>
        <p:spPr>
          <a:xfrm>
            <a:off x="6355080" y="3337560"/>
            <a:ext cx="2194560" cy="1097280"/>
          </a:xfrm>
          <a:prstGeom prst="rect">
            <a:avLst/>
          </a:prstGeom>
          <a:noFill/>
          <a:ln/>
        </p:spPr>
        <p:txBody>
          <a:bodyPr wrap="square" lIns="0" tIns="0" rIns="0" bIns="0" rtlCol="0" anchor="ctr"/>
          <a:lstStyle/>
          <a:p>
            <a:pPr indent="0" marL="0">
              <a:buNone/>
            </a:pPr>
            <a:r>
              <a:rPr lang="en-US" sz="1200" i="1" dirty="0">
                <a:solidFill>
                  <a:srgbClr val="E89B2E"/>
                </a:solidFill>
                <a:latin typeface="Calibri" pitchFamily="34" charset="0"/>
                <a:ea typeface="Calibri" pitchFamily="34" charset="-122"/>
                <a:cs typeface="Calibri" pitchFamily="34" charset="-120"/>
              </a:rPr>
              <a:t>"branch contains DATA-1842" beats "the LLM thinks it sounds related"</a:t>
            </a:r>
            <a:endParaRPr lang="en-US" sz="1200" dirty="0"/>
          </a:p>
        </p:txBody>
      </p:sp>
      <p:sp>
        <p:nvSpPr>
          <p:cNvPr id="39" name="Text 37"/>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Architecture (V0): local-first and modular</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Runs on the developer's machine; Jira is the only external system</a:t>
            </a:r>
            <a:endParaRPr lang="en-US" sz="1400" dirty="0"/>
          </a:p>
        </p:txBody>
      </p:sp>
      <p:sp>
        <p:nvSpPr>
          <p:cNvPr id="4" name="Shape 2"/>
          <p:cNvSpPr/>
          <p:nvPr/>
        </p:nvSpPr>
        <p:spPr>
          <a:xfrm>
            <a:off x="457200" y="1371600"/>
            <a:ext cx="6126480" cy="3337560"/>
          </a:xfrm>
          <a:prstGeom prst="roundRect">
            <a:avLst>
              <a:gd name="adj" fmla="val 2740"/>
            </a:avLst>
          </a:prstGeom>
          <a:solidFill>
            <a:srgbClr val="F4F8F7"/>
          </a:solidFill>
          <a:ln w="15875">
            <a:solidFill>
              <a:srgbClr val="B9D6CE"/>
            </a:solidFill>
            <a:prstDash val="dash"/>
          </a:ln>
        </p:spPr>
      </p:sp>
      <p:sp>
        <p:nvSpPr>
          <p:cNvPr id="5" name="Text 3"/>
          <p:cNvSpPr txBox="1"/>
          <p:nvPr/>
        </p:nvSpPr>
        <p:spPr>
          <a:xfrm>
            <a:off x="640080" y="1444752"/>
            <a:ext cx="2743200" cy="274320"/>
          </a:xfrm>
          <a:prstGeom prst="rect">
            <a:avLst/>
          </a:prstGeom>
          <a:noFill/>
          <a:ln/>
        </p:spPr>
        <p:txBody>
          <a:bodyPr wrap="square" lIns="0" tIns="0" rIns="0" bIns="0" rtlCol="0" anchor="ctr"/>
          <a:lstStyle/>
          <a:p>
            <a:pPr indent="0" marL="0">
              <a:buNone/>
            </a:pPr>
            <a:r>
              <a:rPr lang="en-US" sz="1100" b="1" dirty="0">
                <a:solidFill>
                  <a:srgbClr val="5E706C"/>
                </a:solidFill>
                <a:latin typeface="Calibri" pitchFamily="34" charset="0"/>
                <a:ea typeface="Calibri" pitchFamily="34" charset="-122"/>
                <a:cs typeface="Calibri" pitchFamily="34" charset="-120"/>
              </a:rPr>
              <a:t>Developer machine</a:t>
            </a:r>
            <a:endParaRPr lang="en-US" sz="1100" dirty="0"/>
          </a:p>
        </p:txBody>
      </p:sp>
      <p:sp>
        <p:nvSpPr>
          <p:cNvPr id="6" name="Shape 4"/>
          <p:cNvSpPr/>
          <p:nvPr/>
        </p:nvSpPr>
        <p:spPr>
          <a:xfrm>
            <a:off x="685800" y="1828800"/>
            <a:ext cx="1280160" cy="640080"/>
          </a:xfrm>
          <a:prstGeom prst="roundRect">
            <a:avLst>
              <a:gd name="adj" fmla="val 11429"/>
            </a:avLst>
          </a:prstGeom>
          <a:solidFill>
            <a:srgbClr val="FFFFFF"/>
          </a:solidFill>
          <a:ln w="12700">
            <a:solidFill>
              <a:srgbClr val="B9D6CE"/>
            </a:solidFill>
            <a:prstDash val="solid"/>
          </a:ln>
        </p:spPr>
      </p:sp>
      <p:sp>
        <p:nvSpPr>
          <p:cNvPr id="7" name="Text 5"/>
          <p:cNvSpPr txBox="1"/>
          <p:nvPr/>
        </p:nvSpPr>
        <p:spPr>
          <a:xfrm>
            <a:off x="685800" y="1828800"/>
            <a:ext cx="1280160" cy="640080"/>
          </a:xfrm>
          <a:prstGeom prst="rect">
            <a:avLst/>
          </a:prstGeom>
          <a:noFill/>
          <a:ln/>
        </p:spPr>
        <p:txBody>
          <a:bodyPr wrap="square" lIns="25400" tIns="25400" rIns="25400" bIns="25400" rtlCol="0" anchor="ctr"/>
          <a:lstStyle/>
          <a:p>
            <a:pPr algn="ctr" indent="0" marL="0">
              <a:buNone/>
            </a:pPr>
            <a:r>
              <a:rPr lang="en-US" sz="1200" b="1" dirty="0">
                <a:solidFill>
                  <a:srgbClr val="12302B"/>
                </a:solidFill>
                <a:latin typeface="Calibri" pitchFamily="34" charset="0"/>
                <a:ea typeface="Calibri" pitchFamily="34" charset="-122"/>
                <a:cs typeface="Calibri" pitchFamily="34" charset="-120"/>
              </a:rPr>
              <a:t>Claude Code</a:t>
            </a:r>
            <a:endParaRPr lang="en-US" sz="1200" dirty="0"/>
          </a:p>
          <a:p>
            <a:pPr algn="ctr" indent="0" marL="0">
              <a:buNone/>
            </a:pPr>
            <a:r>
              <a:rPr lang="en-US" sz="1000" dirty="0">
                <a:solidFill>
                  <a:srgbClr val="5E706C"/>
                </a:solidFill>
                <a:latin typeface="Calibri" pitchFamily="34" charset="0"/>
                <a:ea typeface="Calibri" pitchFamily="34" charset="-122"/>
                <a:cs typeface="Calibri" pitchFamily="34" charset="-120"/>
              </a:rPr>
              <a:t>Start / End hooks</a:t>
            </a:r>
            <a:endParaRPr lang="en-US" sz="1200" dirty="0"/>
          </a:p>
        </p:txBody>
      </p:sp>
      <p:sp>
        <p:nvSpPr>
          <p:cNvPr id="8" name="Shape 6"/>
          <p:cNvSpPr/>
          <p:nvPr/>
        </p:nvSpPr>
        <p:spPr>
          <a:xfrm>
            <a:off x="2286000" y="1828800"/>
            <a:ext cx="1280160" cy="640080"/>
          </a:xfrm>
          <a:prstGeom prst="roundRect">
            <a:avLst>
              <a:gd name="adj" fmla="val 11429"/>
            </a:avLst>
          </a:prstGeom>
          <a:solidFill>
            <a:srgbClr val="FFFFFF"/>
          </a:solidFill>
          <a:ln w="12700">
            <a:solidFill>
              <a:srgbClr val="B9D6CE"/>
            </a:solidFill>
            <a:prstDash val="solid"/>
          </a:ln>
        </p:spPr>
      </p:sp>
      <p:sp>
        <p:nvSpPr>
          <p:cNvPr id="9" name="Text 7"/>
          <p:cNvSpPr txBox="1"/>
          <p:nvPr/>
        </p:nvSpPr>
        <p:spPr>
          <a:xfrm>
            <a:off x="2286000" y="1828800"/>
            <a:ext cx="1280160" cy="640080"/>
          </a:xfrm>
          <a:prstGeom prst="rect">
            <a:avLst/>
          </a:prstGeom>
          <a:noFill/>
          <a:ln/>
        </p:spPr>
        <p:txBody>
          <a:bodyPr wrap="square" lIns="25400" tIns="25400" rIns="25400" bIns="25400" rtlCol="0" anchor="ctr"/>
          <a:lstStyle/>
          <a:p>
            <a:pPr algn="ctr" indent="0" marL="0">
              <a:buNone/>
            </a:pPr>
            <a:r>
              <a:rPr lang="en-US" sz="1200" b="1" dirty="0">
                <a:solidFill>
                  <a:srgbClr val="12302B"/>
                </a:solidFill>
                <a:latin typeface="Calibri" pitchFamily="34" charset="0"/>
                <a:ea typeface="Calibri" pitchFamily="34" charset="-122"/>
                <a:cs typeface="Calibri" pitchFamily="34" charset="-120"/>
              </a:rPr>
              <a:t>Collector</a:t>
            </a:r>
            <a:endParaRPr lang="en-US" sz="1200" dirty="0"/>
          </a:p>
          <a:p>
            <a:pPr algn="ctr" indent="0" marL="0">
              <a:buNone/>
            </a:pPr>
            <a:r>
              <a:rPr lang="en-US" sz="1000" dirty="0">
                <a:solidFill>
                  <a:srgbClr val="5E706C"/>
                </a:solidFill>
                <a:latin typeface="Calibri" pitchFamily="34" charset="0"/>
                <a:ea typeface="Calibri" pitchFamily="34" charset="-122"/>
                <a:cs typeface="Calibri" pitchFamily="34" charset="-120"/>
              </a:rPr>
              <a:t>session registry</a:t>
            </a:r>
            <a:endParaRPr lang="en-US" sz="1200" dirty="0"/>
          </a:p>
        </p:txBody>
      </p:sp>
      <p:sp>
        <p:nvSpPr>
          <p:cNvPr id="10" name="Shape 8"/>
          <p:cNvSpPr/>
          <p:nvPr/>
        </p:nvSpPr>
        <p:spPr>
          <a:xfrm>
            <a:off x="3886200" y="1828800"/>
            <a:ext cx="1097280" cy="640080"/>
          </a:xfrm>
          <a:prstGeom prst="roundRect">
            <a:avLst>
              <a:gd name="adj" fmla="val 11429"/>
            </a:avLst>
          </a:prstGeom>
          <a:solidFill>
            <a:srgbClr val="FFFFFF"/>
          </a:solidFill>
          <a:ln w="12700">
            <a:solidFill>
              <a:srgbClr val="B9D6CE"/>
            </a:solidFill>
            <a:prstDash val="solid"/>
          </a:ln>
        </p:spPr>
      </p:sp>
      <p:sp>
        <p:nvSpPr>
          <p:cNvPr id="11" name="Text 9"/>
          <p:cNvSpPr txBox="1"/>
          <p:nvPr/>
        </p:nvSpPr>
        <p:spPr>
          <a:xfrm>
            <a:off x="3886200" y="1828800"/>
            <a:ext cx="1097280" cy="640080"/>
          </a:xfrm>
          <a:prstGeom prst="rect">
            <a:avLst/>
          </a:prstGeom>
          <a:noFill/>
          <a:ln/>
        </p:spPr>
        <p:txBody>
          <a:bodyPr wrap="square" lIns="25400" tIns="25400" rIns="25400" bIns="25400" rtlCol="0" anchor="ctr"/>
          <a:lstStyle/>
          <a:p>
            <a:pPr algn="ctr" indent="0" marL="0">
              <a:buNone/>
            </a:pPr>
            <a:r>
              <a:rPr lang="en-US" sz="1200" b="1" dirty="0">
                <a:solidFill>
                  <a:srgbClr val="12302B"/>
                </a:solidFill>
                <a:latin typeface="Calibri" pitchFamily="34" charset="0"/>
                <a:ea typeface="Calibri" pitchFamily="34" charset="-122"/>
                <a:cs typeface="Calibri" pitchFamily="34" charset="-120"/>
              </a:rPr>
              <a:t>SQLite</a:t>
            </a:r>
            <a:endParaRPr lang="en-US" sz="1200" dirty="0"/>
          </a:p>
          <a:p>
            <a:pPr algn="ctr" indent="0" marL="0">
              <a:buNone/>
            </a:pPr>
            <a:r>
              <a:rPr lang="en-US" sz="1000" dirty="0">
                <a:solidFill>
                  <a:srgbClr val="5E706C"/>
                </a:solidFill>
                <a:latin typeface="Calibri" pitchFamily="34" charset="0"/>
                <a:ea typeface="Calibri" pitchFamily="34" charset="-122"/>
                <a:cs typeface="Calibri" pitchFamily="34" charset="-120"/>
              </a:rPr>
              <a:t>metadata only</a:t>
            </a:r>
            <a:endParaRPr lang="en-US" sz="1200" dirty="0"/>
          </a:p>
        </p:txBody>
      </p:sp>
      <p:sp>
        <p:nvSpPr>
          <p:cNvPr id="12" name="Shape 10"/>
          <p:cNvSpPr/>
          <p:nvPr/>
        </p:nvSpPr>
        <p:spPr>
          <a:xfrm>
            <a:off x="1965960" y="2148840"/>
            <a:ext cx="320040" cy="0"/>
          </a:xfrm>
          <a:prstGeom prst="line">
            <a:avLst/>
          </a:prstGeom>
          <a:noFill/>
          <a:ln w="15875">
            <a:solidFill>
              <a:srgbClr val="5E706C"/>
            </a:solidFill>
            <a:prstDash val="solid"/>
            <a:tailEnd type="triangle"/>
          </a:ln>
        </p:spPr>
      </p:sp>
      <p:sp>
        <p:nvSpPr>
          <p:cNvPr id="13" name="Shape 11"/>
          <p:cNvSpPr/>
          <p:nvPr/>
        </p:nvSpPr>
        <p:spPr>
          <a:xfrm>
            <a:off x="3566160" y="2148840"/>
            <a:ext cx="320040" cy="0"/>
          </a:xfrm>
          <a:prstGeom prst="line">
            <a:avLst/>
          </a:prstGeom>
          <a:noFill/>
          <a:ln w="15875">
            <a:solidFill>
              <a:srgbClr val="5E706C"/>
            </a:solidFill>
            <a:prstDash val="solid"/>
            <a:tailEnd type="triangle"/>
          </a:ln>
        </p:spPr>
      </p:sp>
      <p:sp>
        <p:nvSpPr>
          <p:cNvPr id="14" name="Shape 12"/>
          <p:cNvSpPr/>
          <p:nvPr/>
        </p:nvSpPr>
        <p:spPr>
          <a:xfrm>
            <a:off x="5257800" y="1783080"/>
            <a:ext cx="1143000" cy="365760"/>
          </a:xfrm>
          <a:prstGeom prst="roundRect">
            <a:avLst>
              <a:gd name="adj" fmla="val 20000"/>
            </a:avLst>
          </a:prstGeom>
          <a:solidFill>
            <a:srgbClr val="FFFFFF"/>
          </a:solidFill>
          <a:ln w="12700">
            <a:solidFill>
              <a:srgbClr val="B9D6CE"/>
            </a:solidFill>
            <a:prstDash val="solid"/>
          </a:ln>
        </p:spPr>
      </p:sp>
      <p:sp>
        <p:nvSpPr>
          <p:cNvPr id="15" name="Text 13"/>
          <p:cNvSpPr txBox="1"/>
          <p:nvPr/>
        </p:nvSpPr>
        <p:spPr>
          <a:xfrm>
            <a:off x="5257800" y="1783080"/>
            <a:ext cx="1143000" cy="365760"/>
          </a:xfrm>
          <a:prstGeom prst="rect">
            <a:avLst/>
          </a:prstGeom>
          <a:noFill/>
          <a:ln/>
        </p:spPr>
        <p:txBody>
          <a:bodyPr wrap="square" lIns="25400" tIns="25400" rIns="25400" bIns="25400" rtlCol="0" anchor="ctr"/>
          <a:lstStyle/>
          <a:p>
            <a:pPr algn="ctr" indent="0" marL="0">
              <a:buNone/>
            </a:pPr>
            <a:r>
              <a:rPr lang="en-US" sz="1200" b="1" dirty="0">
                <a:solidFill>
                  <a:srgbClr val="12302B"/>
                </a:solidFill>
                <a:latin typeface="Calibri" pitchFamily="34" charset="0"/>
                <a:ea typeface="Calibri" pitchFamily="34" charset="-122"/>
                <a:cs typeface="Calibri" pitchFamily="34" charset="-120"/>
              </a:rPr>
              <a:t>Summarizer</a:t>
            </a:r>
            <a:endParaRPr lang="en-US" sz="1200" dirty="0"/>
          </a:p>
        </p:txBody>
      </p:sp>
      <p:sp>
        <p:nvSpPr>
          <p:cNvPr id="16" name="Shape 14"/>
          <p:cNvSpPr/>
          <p:nvPr/>
        </p:nvSpPr>
        <p:spPr>
          <a:xfrm>
            <a:off x="5257800" y="2240280"/>
            <a:ext cx="1143000" cy="365760"/>
          </a:xfrm>
          <a:prstGeom prst="roundRect">
            <a:avLst>
              <a:gd name="adj" fmla="val 20000"/>
            </a:avLst>
          </a:prstGeom>
          <a:solidFill>
            <a:srgbClr val="FFFFFF"/>
          </a:solidFill>
          <a:ln w="12700">
            <a:solidFill>
              <a:srgbClr val="B9D6CE"/>
            </a:solidFill>
            <a:prstDash val="solid"/>
          </a:ln>
        </p:spPr>
      </p:sp>
      <p:sp>
        <p:nvSpPr>
          <p:cNvPr id="17" name="Text 15"/>
          <p:cNvSpPr txBox="1"/>
          <p:nvPr/>
        </p:nvSpPr>
        <p:spPr>
          <a:xfrm>
            <a:off x="5257800" y="2240280"/>
            <a:ext cx="1143000" cy="365760"/>
          </a:xfrm>
          <a:prstGeom prst="rect">
            <a:avLst/>
          </a:prstGeom>
          <a:noFill/>
          <a:ln/>
        </p:spPr>
        <p:txBody>
          <a:bodyPr wrap="square" lIns="25400" tIns="25400" rIns="25400" bIns="25400" rtlCol="0" anchor="ctr"/>
          <a:lstStyle/>
          <a:p>
            <a:pPr algn="ctr" indent="0" marL="0">
              <a:buNone/>
            </a:pPr>
            <a:r>
              <a:rPr lang="en-US" sz="1200" b="1" dirty="0">
                <a:solidFill>
                  <a:srgbClr val="12302B"/>
                </a:solidFill>
                <a:latin typeface="Calibri" pitchFamily="34" charset="0"/>
                <a:ea typeface="Calibri" pitchFamily="34" charset="-122"/>
                <a:cs typeface="Calibri" pitchFamily="34" charset="-120"/>
              </a:rPr>
              <a:t>Git context</a:t>
            </a:r>
            <a:endParaRPr lang="en-US" sz="1200" dirty="0"/>
          </a:p>
        </p:txBody>
      </p:sp>
      <p:sp>
        <p:nvSpPr>
          <p:cNvPr id="18" name="Shape 16"/>
          <p:cNvSpPr/>
          <p:nvPr/>
        </p:nvSpPr>
        <p:spPr>
          <a:xfrm>
            <a:off x="4983480" y="2148840"/>
            <a:ext cx="274320" cy="-182880"/>
          </a:xfrm>
          <a:prstGeom prst="line">
            <a:avLst/>
          </a:prstGeom>
          <a:noFill/>
          <a:ln w="15875">
            <a:solidFill>
              <a:srgbClr val="5E706C"/>
            </a:solidFill>
            <a:prstDash val="solid"/>
            <a:tailEnd type="triangle"/>
          </a:ln>
        </p:spPr>
      </p:sp>
      <p:sp>
        <p:nvSpPr>
          <p:cNvPr id="19" name="Shape 17"/>
          <p:cNvSpPr/>
          <p:nvPr/>
        </p:nvSpPr>
        <p:spPr>
          <a:xfrm>
            <a:off x="4983480" y="2148840"/>
            <a:ext cx="274320" cy="274320"/>
          </a:xfrm>
          <a:prstGeom prst="line">
            <a:avLst/>
          </a:prstGeom>
          <a:noFill/>
          <a:ln w="15875">
            <a:solidFill>
              <a:srgbClr val="5E706C"/>
            </a:solidFill>
            <a:prstDash val="solid"/>
            <a:tailEnd type="triangle"/>
          </a:ln>
        </p:spPr>
      </p:sp>
      <p:sp>
        <p:nvSpPr>
          <p:cNvPr id="20" name="Shape 18"/>
          <p:cNvSpPr/>
          <p:nvPr/>
        </p:nvSpPr>
        <p:spPr>
          <a:xfrm>
            <a:off x="4434840" y="3108960"/>
            <a:ext cx="1965960" cy="640080"/>
          </a:xfrm>
          <a:prstGeom prst="roundRect">
            <a:avLst>
              <a:gd name="adj" fmla="val 11429"/>
            </a:avLst>
          </a:prstGeom>
          <a:solidFill>
            <a:srgbClr val="FFFFFF"/>
          </a:solidFill>
          <a:ln w="12700">
            <a:solidFill>
              <a:srgbClr val="B9D6CE"/>
            </a:solidFill>
            <a:prstDash val="solid"/>
          </a:ln>
        </p:spPr>
      </p:sp>
      <p:sp>
        <p:nvSpPr>
          <p:cNvPr id="21" name="Text 19"/>
          <p:cNvSpPr txBox="1"/>
          <p:nvPr/>
        </p:nvSpPr>
        <p:spPr>
          <a:xfrm>
            <a:off x="4434840" y="3108960"/>
            <a:ext cx="1965960" cy="640080"/>
          </a:xfrm>
          <a:prstGeom prst="rect">
            <a:avLst/>
          </a:prstGeom>
          <a:noFill/>
          <a:ln/>
        </p:spPr>
        <p:txBody>
          <a:bodyPr wrap="square" lIns="25400" tIns="25400" rIns="25400" bIns="25400" rtlCol="0" anchor="ctr"/>
          <a:lstStyle/>
          <a:p>
            <a:pPr algn="ctr" indent="0" marL="0">
              <a:buNone/>
            </a:pPr>
            <a:r>
              <a:rPr lang="en-US" sz="1200" b="1" dirty="0">
                <a:solidFill>
                  <a:srgbClr val="12302B"/>
                </a:solidFill>
                <a:latin typeface="Calibri" pitchFamily="34" charset="0"/>
                <a:ea typeface="Calibri" pitchFamily="34" charset="-122"/>
                <a:cs typeface="Calibri" pitchFamily="34" charset="-120"/>
              </a:rPr>
              <a:t>Structured work record</a:t>
            </a:r>
            <a:endParaRPr lang="en-US" sz="1200" dirty="0"/>
          </a:p>
        </p:txBody>
      </p:sp>
      <p:sp>
        <p:nvSpPr>
          <p:cNvPr id="22" name="Shape 20"/>
          <p:cNvSpPr/>
          <p:nvPr/>
        </p:nvSpPr>
        <p:spPr>
          <a:xfrm>
            <a:off x="5829300" y="2606040"/>
            <a:ext cx="0" cy="502920"/>
          </a:xfrm>
          <a:prstGeom prst="line">
            <a:avLst/>
          </a:prstGeom>
          <a:noFill/>
          <a:ln w="15875">
            <a:solidFill>
              <a:srgbClr val="5E706C"/>
            </a:solidFill>
            <a:prstDash val="solid"/>
            <a:tailEnd type="triangle"/>
          </a:ln>
        </p:spPr>
      </p:sp>
      <p:sp>
        <p:nvSpPr>
          <p:cNvPr id="23" name="Shape 21"/>
          <p:cNvSpPr/>
          <p:nvPr/>
        </p:nvSpPr>
        <p:spPr>
          <a:xfrm>
            <a:off x="2286000" y="3108960"/>
            <a:ext cx="1783080" cy="640080"/>
          </a:xfrm>
          <a:prstGeom prst="roundRect">
            <a:avLst>
              <a:gd name="adj" fmla="val 11429"/>
            </a:avLst>
          </a:prstGeom>
          <a:solidFill>
            <a:srgbClr val="12302B"/>
          </a:solidFill>
          <a:ln w="12700">
            <a:solidFill>
              <a:srgbClr val="12302B"/>
            </a:solidFill>
            <a:prstDash val="solid"/>
          </a:ln>
        </p:spPr>
      </p:sp>
      <p:sp>
        <p:nvSpPr>
          <p:cNvPr id="24" name="Text 22"/>
          <p:cNvSpPr txBox="1"/>
          <p:nvPr/>
        </p:nvSpPr>
        <p:spPr>
          <a:xfrm>
            <a:off x="2286000" y="3108960"/>
            <a:ext cx="1783080" cy="640080"/>
          </a:xfrm>
          <a:prstGeom prst="rect">
            <a:avLst/>
          </a:prstGeom>
          <a:noFill/>
          <a:ln/>
        </p:spPr>
        <p:txBody>
          <a:bodyPr wrap="square" lIns="25400" tIns="25400" rIns="25400" bIns="254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Matching engine</a:t>
            </a:r>
            <a:endParaRPr lang="en-US" sz="1200" dirty="0"/>
          </a:p>
          <a:p>
            <a:pPr algn="ctr" indent="0" marL="0">
              <a:buNone/>
            </a:pPr>
            <a:r>
              <a:rPr lang="en-US" sz="1000" dirty="0">
                <a:solidFill>
                  <a:srgbClr val="B9D6CE"/>
                </a:solidFill>
                <a:latin typeface="Calibri" pitchFamily="34" charset="0"/>
                <a:ea typeface="Calibri" pitchFamily="34" charset="-122"/>
                <a:cs typeface="Calibri" pitchFamily="34" charset="-120"/>
              </a:rPr>
              <a:t>deterministic + semantic</a:t>
            </a:r>
            <a:endParaRPr lang="en-US" sz="1200" dirty="0"/>
          </a:p>
        </p:txBody>
      </p:sp>
      <p:sp>
        <p:nvSpPr>
          <p:cNvPr id="25" name="Shape 23"/>
          <p:cNvSpPr/>
          <p:nvPr/>
        </p:nvSpPr>
        <p:spPr>
          <a:xfrm>
            <a:off x="4434840" y="3429000"/>
            <a:ext cx="-365760" cy="0"/>
          </a:xfrm>
          <a:prstGeom prst="line">
            <a:avLst/>
          </a:prstGeom>
          <a:noFill/>
          <a:ln w="15875">
            <a:solidFill>
              <a:srgbClr val="5E706C"/>
            </a:solidFill>
            <a:prstDash val="solid"/>
            <a:tailEnd type="triangle"/>
          </a:ln>
        </p:spPr>
      </p:sp>
      <p:sp>
        <p:nvSpPr>
          <p:cNvPr id="26" name="Shape 24"/>
          <p:cNvSpPr/>
          <p:nvPr/>
        </p:nvSpPr>
        <p:spPr>
          <a:xfrm>
            <a:off x="685800" y="3108960"/>
            <a:ext cx="1280160" cy="640080"/>
          </a:xfrm>
          <a:prstGeom prst="roundRect">
            <a:avLst>
              <a:gd name="adj" fmla="val 11429"/>
            </a:avLst>
          </a:prstGeom>
          <a:solidFill>
            <a:srgbClr val="FFFFFF"/>
          </a:solidFill>
          <a:ln w="12700">
            <a:solidFill>
              <a:srgbClr val="B9D6CE"/>
            </a:solidFill>
            <a:prstDash val="solid"/>
          </a:ln>
        </p:spPr>
      </p:sp>
      <p:sp>
        <p:nvSpPr>
          <p:cNvPr id="27" name="Text 25"/>
          <p:cNvSpPr txBox="1"/>
          <p:nvPr/>
        </p:nvSpPr>
        <p:spPr>
          <a:xfrm>
            <a:off x="685800" y="3108960"/>
            <a:ext cx="1280160" cy="640080"/>
          </a:xfrm>
          <a:prstGeom prst="rect">
            <a:avLst/>
          </a:prstGeom>
          <a:noFill/>
          <a:ln/>
        </p:spPr>
        <p:txBody>
          <a:bodyPr wrap="square" lIns="25400" tIns="25400" rIns="25400" bIns="25400" rtlCol="0" anchor="ctr"/>
          <a:lstStyle/>
          <a:p>
            <a:pPr algn="ctr" indent="0" marL="0">
              <a:buNone/>
            </a:pPr>
            <a:r>
              <a:rPr lang="en-US" sz="1200" b="1" dirty="0">
                <a:solidFill>
                  <a:srgbClr val="12302B"/>
                </a:solidFill>
                <a:latin typeface="Calibri" pitchFamily="34" charset="0"/>
                <a:ea typeface="Calibri" pitchFamily="34" charset="-122"/>
                <a:cs typeface="Calibri" pitchFamily="34" charset="-120"/>
              </a:rPr>
              <a:t>Developer review</a:t>
            </a:r>
            <a:endParaRPr lang="en-US" sz="1200" dirty="0"/>
          </a:p>
          <a:p>
            <a:pPr algn="ctr" indent="0" marL="0">
              <a:buNone/>
            </a:pPr>
            <a:r>
              <a:rPr lang="en-US" sz="1000" dirty="0">
                <a:solidFill>
                  <a:srgbClr val="5E706C"/>
                </a:solidFill>
                <a:latin typeface="Calibri" pitchFamily="34" charset="0"/>
                <a:ea typeface="Calibri" pitchFamily="34" charset="-122"/>
                <a:cs typeface="Calibri" pitchFamily="34" charset="-120"/>
              </a:rPr>
              <a:t>CLI</a:t>
            </a:r>
            <a:endParaRPr lang="en-US" sz="1200" dirty="0"/>
          </a:p>
        </p:txBody>
      </p:sp>
      <p:sp>
        <p:nvSpPr>
          <p:cNvPr id="28" name="Shape 26"/>
          <p:cNvSpPr/>
          <p:nvPr/>
        </p:nvSpPr>
        <p:spPr>
          <a:xfrm>
            <a:off x="2286000" y="3429000"/>
            <a:ext cx="-320040" cy="0"/>
          </a:xfrm>
          <a:prstGeom prst="line">
            <a:avLst/>
          </a:prstGeom>
          <a:noFill/>
          <a:ln w="15875">
            <a:solidFill>
              <a:srgbClr val="5E706C"/>
            </a:solidFill>
            <a:prstDash val="solid"/>
            <a:tailEnd type="triangle"/>
          </a:ln>
        </p:spPr>
      </p:sp>
      <p:sp>
        <p:nvSpPr>
          <p:cNvPr id="29" name="Text 27"/>
          <p:cNvSpPr txBox="1"/>
          <p:nvPr/>
        </p:nvSpPr>
        <p:spPr>
          <a:xfrm>
            <a:off x="685800" y="4023360"/>
            <a:ext cx="5669280" cy="457200"/>
          </a:xfrm>
          <a:prstGeom prst="rect">
            <a:avLst/>
          </a:prstGeom>
          <a:noFill/>
          <a:ln/>
        </p:spPr>
        <p:txBody>
          <a:bodyPr wrap="square" lIns="0" tIns="0" rIns="0" bIns="0" rtlCol="0" anchor="ctr"/>
          <a:lstStyle/>
          <a:p>
            <a:pPr indent="0" marL="0">
              <a:buNone/>
            </a:pPr>
            <a:r>
              <a:rPr lang="en-US" sz="1150" i="1" dirty="0">
                <a:solidFill>
                  <a:srgbClr val="5E706C"/>
                </a:solidFill>
                <a:latin typeface="Calibri" pitchFamily="34" charset="0"/>
                <a:ea typeface="Calibri" pitchFamily="34" charset="-122"/>
                <a:cs typeface="Calibri" pitchFamily="34" charset="-120"/>
              </a:rPr>
              <a:t>Raw transcripts are read in place — never copied or uploaded</a:t>
            </a:r>
            <a:endParaRPr lang="en-US" sz="1150" dirty="0"/>
          </a:p>
        </p:txBody>
      </p:sp>
      <p:sp>
        <p:nvSpPr>
          <p:cNvPr id="30" name="Shape 28"/>
          <p:cNvSpPr/>
          <p:nvPr/>
        </p:nvSpPr>
        <p:spPr>
          <a:xfrm>
            <a:off x="7040880" y="2011680"/>
            <a:ext cx="1645920" cy="1737360"/>
          </a:xfrm>
          <a:prstGeom prst="roundRect">
            <a:avLst>
              <a:gd name="adj" fmla="val 5556"/>
            </a:avLst>
          </a:prstGeom>
          <a:solidFill>
            <a:srgbClr val="E89B2E"/>
          </a:solidFill>
          <a:ln/>
        </p:spPr>
      </p:sp>
      <p:sp>
        <p:nvSpPr>
          <p:cNvPr id="31" name="Text 29"/>
          <p:cNvSpPr txBox="1"/>
          <p:nvPr/>
        </p:nvSpPr>
        <p:spPr>
          <a:xfrm>
            <a:off x="7040880" y="2011680"/>
            <a:ext cx="1645920" cy="1737360"/>
          </a:xfrm>
          <a:prstGeom prst="rect">
            <a:avLst/>
          </a:prstGeom>
          <a:noFill/>
          <a:ln/>
        </p:spPr>
        <p:txBody>
          <a:bodyPr wrap="square" lIns="50800" tIns="50800" rIns="50800" bIns="50800" rtlCol="0" anchor="ctr"/>
          <a:lstStyle/>
          <a:p>
            <a:pPr algn="ctr" indent="0" marL="0">
              <a:buNone/>
            </a:pPr>
            <a:r>
              <a:rPr lang="en-US" sz="1800" b="1" dirty="0">
                <a:solidFill>
                  <a:srgbClr val="12302B"/>
                </a:solidFill>
                <a:latin typeface="Calibri" pitchFamily="34" charset="0"/>
                <a:ea typeface="Calibri" pitchFamily="34" charset="-122"/>
                <a:cs typeface="Calibri" pitchFamily="34" charset="-120"/>
              </a:rPr>
              <a:t>Jira</a:t>
            </a:r>
            <a:endParaRPr lang="en-US" sz="1800" dirty="0"/>
          </a:p>
          <a:p>
            <a:pPr algn="ctr" indent="0" marL="0">
              <a:buNone/>
            </a:pPr>
            <a:r>
              <a:rPr lang="en-US" sz="1100" dirty="0">
                <a:solidFill>
                  <a:srgbClr val="12302B"/>
                </a:solidFill>
                <a:latin typeface="Calibri" pitchFamily="34" charset="0"/>
                <a:ea typeface="Calibri" pitchFamily="34" charset="-122"/>
                <a:cs typeface="Calibri" pitchFamily="34" charset="-120"/>
              </a:rPr>
              <a:t>Rovo MCP or REST API</a:t>
            </a:r>
            <a:endParaRPr lang="en-US" sz="1800" dirty="0"/>
          </a:p>
        </p:txBody>
      </p:sp>
      <p:sp>
        <p:nvSpPr>
          <p:cNvPr id="32" name="Shape 30"/>
          <p:cNvSpPr/>
          <p:nvPr/>
        </p:nvSpPr>
        <p:spPr>
          <a:xfrm>
            <a:off x="6400800" y="2377440"/>
            <a:ext cx="640080" cy="0"/>
          </a:xfrm>
          <a:prstGeom prst="line">
            <a:avLst/>
          </a:prstGeom>
          <a:noFill/>
          <a:ln w="15875">
            <a:solidFill>
              <a:srgbClr val="12302B"/>
            </a:solidFill>
            <a:prstDash val="solid"/>
            <a:headEnd type="triangle"/>
          </a:ln>
        </p:spPr>
      </p:sp>
      <p:sp>
        <p:nvSpPr>
          <p:cNvPr id="33" name="Text 31"/>
          <p:cNvSpPr txBox="1"/>
          <p:nvPr/>
        </p:nvSpPr>
        <p:spPr>
          <a:xfrm>
            <a:off x="6400800" y="2103120"/>
            <a:ext cx="640080" cy="228600"/>
          </a:xfrm>
          <a:prstGeom prst="rect">
            <a:avLst/>
          </a:prstGeom>
          <a:noFill/>
          <a:ln/>
        </p:spPr>
        <p:txBody>
          <a:bodyPr wrap="square" lIns="0" tIns="0" rIns="0" bIns="0" rtlCol="0" anchor="ctr"/>
          <a:lstStyle/>
          <a:p>
            <a:pPr algn="ctr" indent="0" marL="0">
              <a:buNone/>
            </a:pPr>
            <a:r>
              <a:rPr lang="en-US" sz="900" dirty="0">
                <a:solidFill>
                  <a:srgbClr val="5E706C"/>
                </a:solidFill>
                <a:latin typeface="Calibri" pitchFamily="34" charset="0"/>
                <a:ea typeface="Calibri" pitchFamily="34" charset="-122"/>
                <a:cs typeface="Calibri" pitchFamily="34" charset="-120"/>
              </a:rPr>
              <a:t>candidates</a:t>
            </a:r>
            <a:endParaRPr lang="en-US" sz="900" dirty="0"/>
          </a:p>
        </p:txBody>
      </p:sp>
      <p:sp>
        <p:nvSpPr>
          <p:cNvPr id="34" name="Shape 32"/>
          <p:cNvSpPr/>
          <p:nvPr/>
        </p:nvSpPr>
        <p:spPr>
          <a:xfrm>
            <a:off x="6400800" y="3429000"/>
            <a:ext cx="640080" cy="0"/>
          </a:xfrm>
          <a:prstGeom prst="line">
            <a:avLst/>
          </a:prstGeom>
          <a:noFill/>
          <a:ln w="15875">
            <a:solidFill>
              <a:srgbClr val="12302B"/>
            </a:solidFill>
            <a:prstDash val="solid"/>
            <a:tailEnd type="triangle"/>
          </a:ln>
        </p:spPr>
      </p:sp>
      <p:sp>
        <p:nvSpPr>
          <p:cNvPr id="35" name="Text 33"/>
          <p:cNvSpPr txBox="1"/>
          <p:nvPr/>
        </p:nvSpPr>
        <p:spPr>
          <a:xfrm>
            <a:off x="6355080" y="3566160"/>
            <a:ext cx="731520" cy="365760"/>
          </a:xfrm>
          <a:prstGeom prst="rect">
            <a:avLst/>
          </a:prstGeom>
          <a:noFill/>
          <a:ln/>
        </p:spPr>
        <p:txBody>
          <a:bodyPr wrap="square" lIns="0" tIns="0" rIns="0" bIns="0" rtlCol="0" anchor="ctr"/>
          <a:lstStyle/>
          <a:p>
            <a:pPr algn="ctr" indent="0" marL="0">
              <a:buNone/>
            </a:pPr>
            <a:r>
              <a:rPr lang="en-US" sz="900" dirty="0">
                <a:solidFill>
                  <a:srgbClr val="5E706C"/>
                </a:solidFill>
                <a:latin typeface="Calibri" pitchFamily="34" charset="0"/>
                <a:ea typeface="Calibri" pitchFamily="34" charset="-122"/>
                <a:cs typeface="Calibri" pitchFamily="34" charset="-120"/>
              </a:rPr>
              <a:t>approved updates</a:t>
            </a:r>
            <a:endParaRPr lang="en-US" sz="900" dirty="0"/>
          </a:p>
        </p:txBody>
      </p:sp>
      <p:sp>
        <p:nvSpPr>
          <p:cNvPr id="36" name="Text 34"/>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Privacy: sessions stay local</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Transcripts can contain source code, internal URLs, customer data, even leaked secrets</a:t>
            </a:r>
            <a:endParaRPr lang="en-US" sz="1400" dirty="0"/>
          </a:p>
        </p:txBody>
      </p:sp>
      <p:sp>
        <p:nvSpPr>
          <p:cNvPr id="4" name="Shape 2"/>
          <p:cNvSpPr/>
          <p:nvPr/>
        </p:nvSpPr>
        <p:spPr>
          <a:xfrm>
            <a:off x="457200" y="1417320"/>
            <a:ext cx="3931920" cy="2103120"/>
          </a:xfrm>
          <a:prstGeom prst="roundRect">
            <a:avLst>
              <a:gd name="adj" fmla="val 5217"/>
            </a:avLst>
          </a:prstGeom>
          <a:solidFill>
            <a:srgbClr val="12302B"/>
          </a:solidFill>
          <a:ln/>
        </p:spPr>
      </p:sp>
      <p:sp>
        <p:nvSpPr>
          <p:cNvPr id="5" name="Text 3"/>
          <p:cNvSpPr txBox="1"/>
          <p:nvPr/>
        </p:nvSpPr>
        <p:spPr>
          <a:xfrm>
            <a:off x="731520" y="1554480"/>
            <a:ext cx="3383280" cy="36576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Stays on the machine</a:t>
            </a:r>
            <a:endParaRPr lang="en-US" sz="1700" dirty="0"/>
          </a:p>
        </p:txBody>
      </p:sp>
      <p:sp>
        <p:nvSpPr>
          <p:cNvPr id="6" name="Text 4"/>
          <p:cNvSpPr txBox="1"/>
          <p:nvPr/>
        </p:nvSpPr>
        <p:spPr>
          <a:xfrm>
            <a:off x="731520" y="2011680"/>
            <a:ext cx="3474720" cy="16916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Raw transcripts</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Tool and command output</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Source-code context</a:t>
            </a:r>
            <a:endParaRPr lang="en-US" sz="1300" dirty="0"/>
          </a:p>
          <a:p>
            <a:pPr marL="342900" indent="-342900">
              <a:spcAft>
                <a:spcPts val="500"/>
              </a:spcAft>
              <a:buSzPct val="100000"/>
              <a:buChar char="•"/>
            </a:pPr>
            <a:r>
              <a:rPr lang="en-US" sz="1300" dirty="0">
                <a:solidFill>
                  <a:srgbClr val="FFFFFF"/>
                </a:solidFill>
                <a:latin typeface="Calibri" pitchFamily="34" charset="0"/>
                <a:ea typeface="Calibri" pitchFamily="34" charset="-122"/>
                <a:cs typeface="Calibri" pitchFamily="34" charset="-120"/>
              </a:rPr>
              <a:t>Local file paths and detailed metadata</a:t>
            </a:r>
            <a:endParaRPr lang="en-US" sz="1300" dirty="0"/>
          </a:p>
        </p:txBody>
      </p:sp>
      <p:sp>
        <p:nvSpPr>
          <p:cNvPr id="7" name="Shape 5"/>
          <p:cNvSpPr/>
          <p:nvPr/>
        </p:nvSpPr>
        <p:spPr>
          <a:xfrm>
            <a:off x="4754880" y="1417320"/>
            <a:ext cx="3931920" cy="2103120"/>
          </a:xfrm>
          <a:prstGeom prst="roundRect">
            <a:avLst>
              <a:gd name="adj" fmla="val 5217"/>
            </a:avLst>
          </a:prstGeom>
          <a:solidFill>
            <a:srgbClr val="E6F0ED"/>
          </a:solidFill>
          <a:ln/>
        </p:spPr>
      </p:sp>
      <p:sp>
        <p:nvSpPr>
          <p:cNvPr id="8" name="Text 6"/>
          <p:cNvSpPr txBox="1"/>
          <p:nvPr/>
        </p:nvSpPr>
        <p:spPr>
          <a:xfrm>
            <a:off x="5029200" y="1554480"/>
            <a:ext cx="3383280" cy="365760"/>
          </a:xfrm>
          <a:prstGeom prst="rect">
            <a:avLst/>
          </a:prstGeom>
          <a:noFill/>
          <a:ln/>
        </p:spPr>
        <p:txBody>
          <a:bodyPr wrap="square" lIns="0" tIns="0" rIns="0" bIns="0" rtlCol="0" anchor="ctr"/>
          <a:lstStyle/>
          <a:p>
            <a:pPr indent="0" marL="0">
              <a:buNone/>
            </a:pPr>
            <a:r>
              <a:rPr lang="en-US" sz="1700" b="1" dirty="0">
                <a:solidFill>
                  <a:srgbClr val="12302B"/>
                </a:solidFill>
                <a:latin typeface="Cambria" pitchFamily="34" charset="0"/>
                <a:ea typeface="Cambria" pitchFamily="34" charset="-122"/>
                <a:cs typeface="Cambria" pitchFamily="34" charset="-120"/>
              </a:rPr>
              <a:t>Sent to Jira — only when approved</a:t>
            </a:r>
            <a:endParaRPr lang="en-US" sz="1700" dirty="0"/>
          </a:p>
        </p:txBody>
      </p:sp>
      <p:sp>
        <p:nvSpPr>
          <p:cNvPr id="9" name="Text 7"/>
          <p:cNvSpPr txBox="1"/>
          <p:nvPr/>
        </p:nvSpPr>
        <p:spPr>
          <a:xfrm>
            <a:off x="5029200" y="2011680"/>
            <a:ext cx="3474720" cy="16916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12302B"/>
                </a:solidFill>
                <a:latin typeface="Calibri" pitchFamily="34" charset="0"/>
                <a:ea typeface="Calibri" pitchFamily="34" charset="-122"/>
                <a:cs typeface="Calibri" pitchFamily="34" charset="-120"/>
              </a:rPr>
              <a:t>Work summary and changes</a:t>
            </a:r>
            <a:endParaRPr lang="en-US" sz="1300" dirty="0"/>
          </a:p>
          <a:p>
            <a:pPr marL="342900" indent="-342900">
              <a:spcAft>
                <a:spcPts val="500"/>
              </a:spcAft>
              <a:buSzPct val="100000"/>
              <a:buChar char="•"/>
            </a:pPr>
            <a:r>
              <a:rPr lang="en-US" sz="1300" dirty="0">
                <a:solidFill>
                  <a:srgbClr val="12302B"/>
                </a:solidFill>
                <a:latin typeface="Calibri" pitchFamily="34" charset="0"/>
                <a:ea typeface="Calibri" pitchFamily="34" charset="-122"/>
                <a:cs typeface="Calibri" pitchFamily="34" charset="-120"/>
              </a:rPr>
              <a:t>Validation summary (e.g. tests passed)</a:t>
            </a:r>
            <a:endParaRPr lang="en-US" sz="1300" dirty="0"/>
          </a:p>
          <a:p>
            <a:pPr marL="342900" indent="-342900">
              <a:spcAft>
                <a:spcPts val="500"/>
              </a:spcAft>
              <a:buSzPct val="100000"/>
              <a:buChar char="•"/>
            </a:pPr>
            <a:r>
              <a:rPr lang="en-US" sz="1300" dirty="0">
                <a:solidFill>
                  <a:srgbClr val="12302B"/>
                </a:solidFill>
                <a:latin typeface="Calibri" pitchFamily="34" charset="0"/>
                <a:ea typeface="Calibri" pitchFamily="34" charset="-122"/>
                <a:cs typeface="Calibri" pitchFamily="34" charset="-120"/>
              </a:rPr>
              <a:t>Repository and branch</a:t>
            </a:r>
            <a:endParaRPr lang="en-US" sz="1300" dirty="0"/>
          </a:p>
          <a:p>
            <a:pPr marL="342900" indent="-342900">
              <a:spcAft>
                <a:spcPts val="500"/>
              </a:spcAft>
              <a:buSzPct val="100000"/>
              <a:buChar char="•"/>
            </a:pPr>
            <a:r>
              <a:rPr lang="en-US" sz="1300" dirty="0">
                <a:solidFill>
                  <a:srgbClr val="12302B"/>
                </a:solidFill>
                <a:latin typeface="Calibri" pitchFamily="34" charset="0"/>
                <a:ea typeface="Calibri" pitchFamily="34" charset="-122"/>
                <a:cs typeface="Calibri" pitchFamily="34" charset="-120"/>
              </a:rPr>
              <a:t>Jira mapping and session reference</a:t>
            </a:r>
            <a:endParaRPr lang="en-US" sz="1300" dirty="0"/>
          </a:p>
        </p:txBody>
      </p:sp>
      <p:sp>
        <p:nvSpPr>
          <p:cNvPr id="10" name="Text 8"/>
          <p:cNvSpPr txBox="1"/>
          <p:nvPr/>
        </p:nvSpPr>
        <p:spPr>
          <a:xfrm>
            <a:off x="457200" y="3794760"/>
            <a:ext cx="8229600" cy="411480"/>
          </a:xfrm>
          <a:prstGeom prst="rect">
            <a:avLst/>
          </a:prstGeom>
          <a:noFill/>
          <a:ln/>
        </p:spPr>
        <p:txBody>
          <a:bodyPr wrap="square" lIns="0" tIns="0" rIns="0" bIns="0" rtlCol="0" anchor="ctr"/>
          <a:lstStyle/>
          <a:p>
            <a:pPr indent="0" marL="0">
              <a:buNone/>
            </a:pPr>
            <a:r>
              <a:rPr lang="en-US" sz="1600" i="1" dirty="0">
                <a:solidFill>
                  <a:srgbClr val="12302B"/>
                </a:solidFill>
                <a:latin typeface="Cambria" pitchFamily="34" charset="0"/>
                <a:ea typeface="Cambria" pitchFamily="34" charset="-122"/>
                <a:cs typeface="Cambria" pitchFamily="34" charset="-120"/>
              </a:rPr>
              <a:t>“Your AI coding sessions stay local. WorkTrace sends Jira only the work evidence you approve.”</a:t>
            </a:r>
            <a:endParaRPr lang="en-US" sz="1600" dirty="0"/>
          </a:p>
        </p:txBody>
      </p:sp>
      <p:sp>
        <p:nvSpPr>
          <p:cNvPr id="11" name="Text 9"/>
          <p:cNvSpPr txBox="1"/>
          <p:nvPr/>
        </p:nvSpPr>
        <p:spPr>
          <a:xfrm>
            <a:off x="457200" y="4251960"/>
            <a:ext cx="8229600" cy="274320"/>
          </a:xfrm>
          <a:prstGeom prst="rect">
            <a:avLst/>
          </a:prstGeom>
          <a:noFill/>
          <a:ln/>
        </p:spPr>
        <p:txBody>
          <a:bodyPr wrap="square" lIns="0" tIns="0" rIns="0" bIns="0" rtlCol="0" anchor="ctr"/>
          <a:lstStyle/>
          <a:p>
            <a:pPr indent="0" marL="0">
              <a:buNone/>
            </a:pPr>
            <a:r>
              <a:rPr lang="en-US" sz="1200" dirty="0">
                <a:solidFill>
                  <a:srgbClr val="5E706C"/>
                </a:solidFill>
                <a:latin typeface="Calibri" pitchFamily="34" charset="0"/>
                <a:ea typeface="Calibri" pitchFamily="34" charset="-122"/>
                <a:cs typeface="Calibri" pitchFamily="34" charset="-120"/>
              </a:rPr>
              <a:t>No remote backend in V0 · transcript sharing opt-in only · secret redaction planned before write-back</a:t>
            </a:r>
            <a:endParaRPr lang="en-US" sz="1200" dirty="0"/>
          </a:p>
        </p:txBody>
      </p:sp>
      <p:sp>
        <p:nvSpPr>
          <p:cNvPr id="12" name="Text 1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Existing landscape and where WorkTrace fits</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The integrations exist — the reconciliation workflow does not</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5577840" cy="914400"/>
        </p:xfrm>
        <a:graphic>
          <a:graphicData uri="http://schemas.openxmlformats.org/drawingml/2006/table">
            <a:tbl>
              <a:tblPr/>
              <a:tblGrid>
                <a:gridCol w="1600200"/>
                <a:gridCol w="1965960"/>
                <a:gridCol w="201168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Existing capability</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solidFill>
                      <a:srgbClr val="123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solidFill>
                      <a:srgbClr val="12302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Gap WorkTrace fills</a:t>
                      </a:r>
                      <a:endParaRPr lang="en-US" sz="120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solidFill>
                      <a:srgbClr val="12302B"/>
                    </a:solidFill>
                  </a:tcPr>
                </a:tc>
              </a:tr>
              <a:tr h="420624">
                <a:tc>
                  <a:txBody>
                    <a:bodyPr/>
                    <a:lstStyle/>
                    <a:p>
                      <a:pPr indent="0" marL="0">
                        <a:buNone/>
                      </a:pPr>
                      <a:r>
                        <a:rPr lang="en-US" sz="1150" b="1" dirty="0">
                          <a:solidFill>
                            <a:srgbClr val="1B2B28"/>
                          </a:solidFill>
                          <a:latin typeface="Calibri" pitchFamily="34" charset="0"/>
                          <a:ea typeface="Calibri" pitchFamily="34" charset="-122"/>
                          <a:cs typeface="Calibri" pitchFamily="34" charset="-120"/>
                        </a:rPr>
                        <a:t>Jira → Claude Code</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Start coding from an existing Jira</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Assumes the Jira already exists</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r h="420624">
                <a:tc>
                  <a:txBody>
                    <a:bodyPr/>
                    <a:lstStyle/>
                    <a:p>
                      <a:pPr indent="0" marL="0">
                        <a:buNone/>
                      </a:pPr>
                      <a:r>
                        <a:rPr lang="en-US" sz="1150" b="1" dirty="0">
                          <a:solidFill>
                            <a:srgbClr val="1B2B28"/>
                          </a:solidFill>
                          <a:latin typeface="Calibri" pitchFamily="34" charset="0"/>
                          <a:ea typeface="Calibri" pitchFamily="34" charset="-122"/>
                          <a:cs typeface="Calibri" pitchFamily="34" charset="-120"/>
                        </a:rPr>
                        <a:t>Atlassian Rovo MCP</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Jira tools for AI clients</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Tools, not a daily reconciliation workflow</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r h="420624">
                <a:tc>
                  <a:txBody>
                    <a:bodyPr/>
                    <a:lstStyle/>
                    <a:p>
                      <a:pPr indent="0" marL="0">
                        <a:buNone/>
                      </a:pPr>
                      <a:r>
                        <a:rPr lang="en-US" sz="1150" b="1" dirty="0">
                          <a:solidFill>
                            <a:srgbClr val="1B2B28"/>
                          </a:solidFill>
                          <a:latin typeface="Calibri" pitchFamily="34" charset="0"/>
                          <a:ea typeface="Calibri" pitchFamily="34" charset="-122"/>
                          <a:cs typeface="Calibri" pitchFamily="34" charset="-120"/>
                        </a:rPr>
                        <a:t>Jira agent visibility</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Shows agent activity already linked</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Unlinked sessions stay invisible</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r h="420624">
                <a:tc>
                  <a:txBody>
                    <a:bodyPr/>
                    <a:lstStyle/>
                    <a:p>
                      <a:pPr indent="0" marL="0">
                        <a:buNone/>
                      </a:pPr>
                      <a:r>
                        <a:rPr lang="en-US" sz="1150" b="1" dirty="0">
                          <a:solidFill>
                            <a:srgbClr val="1B2B28"/>
                          </a:solidFill>
                          <a:latin typeface="Calibri" pitchFamily="34" charset="0"/>
                          <a:ea typeface="Calibri" pitchFamily="34" charset="-122"/>
                          <a:cs typeface="Calibri" pitchFamily="34" charset="-120"/>
                        </a:rPr>
                        <a:t>Agentry for Jira</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Syncs / links AI sessions to issues</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No missing-work detection</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r h="420624">
                <a:tc>
                  <a:txBody>
                    <a:bodyPr/>
                    <a:lstStyle/>
                    <a:p>
                      <a:pPr indent="0" marL="0">
                        <a:buNone/>
                      </a:pPr>
                      <a:r>
                        <a:rPr lang="en-US" sz="1150" b="1" dirty="0">
                          <a:solidFill>
                            <a:srgbClr val="1B2B28"/>
                          </a:solidFill>
                          <a:latin typeface="Calibri" pitchFamily="34" charset="0"/>
                          <a:ea typeface="Calibri" pitchFamily="34" charset="-122"/>
                          <a:cs typeface="Calibri" pitchFamily="34" charset="-120"/>
                        </a:rPr>
                        <a:t>Claude Code hooks</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Session lifecycle metadata</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c>
                  <a:txBody>
                    <a:bodyPr/>
                    <a:lstStyle/>
                    <a:p>
                      <a:pPr indent="0" marL="0">
                        <a:buNone/>
                      </a:pPr>
                      <a:r>
                        <a:rPr lang="en-US" sz="1150" dirty="0">
                          <a:solidFill>
                            <a:srgbClr val="1B2B28"/>
                          </a:solidFill>
                          <a:latin typeface="Calibri" pitchFamily="34" charset="0"/>
                          <a:ea typeface="Calibri" pitchFamily="34" charset="-122"/>
                          <a:cs typeface="Calibri" pitchFamily="34" charset="-120"/>
                        </a:rPr>
                        <a:t>Infrastructure only — we build on it</a:t>
                      </a:r>
                      <a:endParaRPr lang="en-US" sz="1150" dirty="0">
                        <a:latin typeface="Calibri" charset="0"/>
                        <a:ea typeface="Calibri" charset="0"/>
                        <a:cs typeface="Calibri" charset="0"/>
                      </a:endParaRPr>
                    </a:p>
                  </a:txBody>
                  <a:tcPr marL="91440" marR="91440" marT="45720" marB="45720" anchor="ctr">
                    <a:lnL w="9525" cap="flat" cmpd="sng" algn="ctr">
                      <a:solidFill>
                        <a:srgbClr val="D5E2DE"/>
                      </a:solidFill>
                      <a:prstDash val="solid"/>
                      <a:round/>
                      <a:headEnd type="none" w="med" len="med"/>
                      <a:tailEnd type="none" w="med" len="med"/>
                    </a:lnL>
                    <a:lnR w="9525" cap="flat" cmpd="sng" algn="ctr">
                      <a:solidFill>
                        <a:srgbClr val="D5E2DE"/>
                      </a:solidFill>
                      <a:prstDash val="solid"/>
                      <a:round/>
                      <a:headEnd type="none" w="med" len="med"/>
                      <a:tailEnd type="none" w="med" len="med"/>
                    </a:lnR>
                    <a:lnT w="9525" cap="flat" cmpd="sng" algn="ctr">
                      <a:solidFill>
                        <a:srgbClr val="D5E2DE"/>
                      </a:solidFill>
                      <a:prstDash val="solid"/>
                      <a:round/>
                      <a:headEnd type="none" w="med" len="med"/>
                      <a:tailEnd type="none" w="med" len="med"/>
                    </a:lnT>
                    <a:lnB w="9525" cap="flat" cmpd="sng" algn="ctr">
                      <a:solidFill>
                        <a:srgbClr val="D5E2DE"/>
                      </a:solidFill>
                      <a:prstDash val="solid"/>
                      <a:round/>
                      <a:headEnd type="none" w="med" len="med"/>
                      <a:tailEnd type="none" w="med" len="med"/>
                    </a:lnB>
                  </a:tcPr>
                </a:tc>
              </a:tr>
            </a:tbl>
          </a:graphicData>
        </a:graphic>
      </p:graphicFrame>
      <p:sp>
        <p:nvSpPr>
          <p:cNvPr id="5" name="Shape 2"/>
          <p:cNvSpPr/>
          <p:nvPr/>
        </p:nvSpPr>
        <p:spPr>
          <a:xfrm>
            <a:off x="6309360" y="1371600"/>
            <a:ext cx="2377440" cy="3291840"/>
          </a:xfrm>
          <a:prstGeom prst="roundRect">
            <a:avLst>
              <a:gd name="adj" fmla="val 4615"/>
            </a:avLst>
          </a:prstGeom>
          <a:solidFill>
            <a:srgbClr val="E6F0ED"/>
          </a:solidFill>
          <a:ln/>
        </p:spPr>
      </p:sp>
      <p:sp>
        <p:nvSpPr>
          <p:cNvPr id="6" name="Text 3"/>
          <p:cNvSpPr txBox="1"/>
          <p:nvPr/>
        </p:nvSpPr>
        <p:spPr>
          <a:xfrm>
            <a:off x="6492240" y="1554480"/>
            <a:ext cx="2011680" cy="256032"/>
          </a:xfrm>
          <a:prstGeom prst="rect">
            <a:avLst/>
          </a:prstGeom>
          <a:noFill/>
          <a:ln/>
        </p:spPr>
        <p:txBody>
          <a:bodyPr wrap="square" lIns="0" tIns="0" rIns="0" bIns="0" rtlCol="0" anchor="ctr"/>
          <a:lstStyle/>
          <a:p>
            <a:pPr indent="0" marL="0">
              <a:buNone/>
            </a:pPr>
            <a:r>
              <a:rPr lang="en-US" sz="1100" b="1" dirty="0">
                <a:solidFill>
                  <a:srgbClr val="5E706C"/>
                </a:solidFill>
                <a:latin typeface="Calibri" pitchFamily="34" charset="0"/>
                <a:ea typeface="Calibri" pitchFamily="34" charset="-122"/>
                <a:cs typeface="Calibri" pitchFamily="34" charset="-120"/>
              </a:rPr>
              <a:t>Existing</a:t>
            </a:r>
            <a:endParaRPr lang="en-US" sz="1100" dirty="0"/>
          </a:p>
        </p:txBody>
      </p:sp>
      <p:sp>
        <p:nvSpPr>
          <p:cNvPr id="7" name="Text 4"/>
          <p:cNvSpPr txBox="1"/>
          <p:nvPr/>
        </p:nvSpPr>
        <p:spPr>
          <a:xfrm>
            <a:off x="6492240" y="1810512"/>
            <a:ext cx="2057400" cy="411480"/>
          </a:xfrm>
          <a:prstGeom prst="rect">
            <a:avLst/>
          </a:prstGeom>
          <a:noFill/>
          <a:ln/>
        </p:spPr>
        <p:txBody>
          <a:bodyPr wrap="square" lIns="0" tIns="0" rIns="0" bIns="0" rtlCol="0" anchor="ctr"/>
          <a:lstStyle/>
          <a:p>
            <a:pPr indent="0" marL="0">
              <a:buNone/>
            </a:pPr>
            <a:r>
              <a:rPr lang="en-US" sz="1400" dirty="0">
                <a:solidFill>
                  <a:srgbClr val="12302B"/>
                </a:solidFill>
                <a:latin typeface="Calibri" pitchFamily="34" charset="0"/>
                <a:ea typeface="Calibri" pitchFamily="34" charset="-122"/>
                <a:cs typeface="Calibri" pitchFamily="34" charset="-120"/>
              </a:rPr>
              <a:t>Jira → Agent</a:t>
            </a:r>
            <a:endParaRPr lang="en-US" sz="1400" dirty="0"/>
          </a:p>
        </p:txBody>
      </p:sp>
      <p:sp>
        <p:nvSpPr>
          <p:cNvPr id="8" name="Text 5"/>
          <p:cNvSpPr txBox="1"/>
          <p:nvPr/>
        </p:nvSpPr>
        <p:spPr>
          <a:xfrm>
            <a:off x="6492240" y="2331720"/>
            <a:ext cx="2011680" cy="256032"/>
          </a:xfrm>
          <a:prstGeom prst="rect">
            <a:avLst/>
          </a:prstGeom>
          <a:noFill/>
          <a:ln/>
        </p:spPr>
        <p:txBody>
          <a:bodyPr wrap="square" lIns="0" tIns="0" rIns="0" bIns="0" rtlCol="0" anchor="ctr"/>
          <a:lstStyle/>
          <a:p>
            <a:pPr indent="0" marL="0">
              <a:buNone/>
            </a:pPr>
            <a:r>
              <a:rPr lang="en-US" sz="1100" b="1" dirty="0">
                <a:solidFill>
                  <a:srgbClr val="5E706C"/>
                </a:solidFill>
                <a:latin typeface="Calibri" pitchFamily="34" charset="0"/>
                <a:ea typeface="Calibri" pitchFamily="34" charset="-122"/>
                <a:cs typeface="Calibri" pitchFamily="34" charset="-120"/>
              </a:rPr>
              <a:t>Existing</a:t>
            </a:r>
            <a:endParaRPr lang="en-US" sz="1100" dirty="0"/>
          </a:p>
        </p:txBody>
      </p:sp>
      <p:sp>
        <p:nvSpPr>
          <p:cNvPr id="9" name="Text 6"/>
          <p:cNvSpPr txBox="1"/>
          <p:nvPr/>
        </p:nvSpPr>
        <p:spPr>
          <a:xfrm>
            <a:off x="6492240" y="2587752"/>
            <a:ext cx="2057400" cy="411480"/>
          </a:xfrm>
          <a:prstGeom prst="rect">
            <a:avLst/>
          </a:prstGeom>
          <a:noFill/>
          <a:ln/>
        </p:spPr>
        <p:txBody>
          <a:bodyPr wrap="square" lIns="0" tIns="0" rIns="0" bIns="0" rtlCol="0" anchor="ctr"/>
          <a:lstStyle/>
          <a:p>
            <a:pPr indent="0" marL="0">
              <a:buNone/>
            </a:pPr>
            <a:r>
              <a:rPr lang="en-US" sz="1400" dirty="0">
                <a:solidFill>
                  <a:srgbClr val="12302B"/>
                </a:solidFill>
                <a:latin typeface="Calibri" pitchFamily="34" charset="0"/>
                <a:ea typeface="Calibri" pitchFamily="34" charset="-122"/>
                <a:cs typeface="Calibri" pitchFamily="34" charset="-120"/>
              </a:rPr>
              <a:t>Session → Jira link</a:t>
            </a:r>
            <a:endParaRPr lang="en-US" sz="1400" dirty="0"/>
          </a:p>
        </p:txBody>
      </p:sp>
      <p:sp>
        <p:nvSpPr>
          <p:cNvPr id="10" name="Text 7"/>
          <p:cNvSpPr txBox="1"/>
          <p:nvPr/>
        </p:nvSpPr>
        <p:spPr>
          <a:xfrm>
            <a:off x="6492240" y="3108960"/>
            <a:ext cx="2011680" cy="256032"/>
          </a:xfrm>
          <a:prstGeom prst="rect">
            <a:avLst/>
          </a:prstGeom>
          <a:noFill/>
          <a:ln/>
        </p:spPr>
        <p:txBody>
          <a:bodyPr wrap="square" lIns="0" tIns="0" rIns="0" bIns="0" rtlCol="0" anchor="ctr"/>
          <a:lstStyle/>
          <a:p>
            <a:pPr indent="0" marL="0">
              <a:buNone/>
            </a:pPr>
            <a:r>
              <a:rPr lang="en-US" sz="1100" b="1" dirty="0">
                <a:solidFill>
                  <a:srgbClr val="E89B2E"/>
                </a:solidFill>
                <a:latin typeface="Calibri" pitchFamily="34" charset="0"/>
                <a:ea typeface="Calibri" pitchFamily="34" charset="-122"/>
                <a:cs typeface="Calibri" pitchFamily="34" charset="-120"/>
              </a:rPr>
              <a:t>WorkTrace</a:t>
            </a:r>
            <a:endParaRPr lang="en-US" sz="1100" dirty="0"/>
          </a:p>
        </p:txBody>
      </p:sp>
      <p:sp>
        <p:nvSpPr>
          <p:cNvPr id="11" name="Text 8"/>
          <p:cNvSpPr txBox="1"/>
          <p:nvPr/>
        </p:nvSpPr>
        <p:spPr>
          <a:xfrm>
            <a:off x="6492240" y="3364992"/>
            <a:ext cx="2057400" cy="411480"/>
          </a:xfrm>
          <a:prstGeom prst="rect">
            <a:avLst/>
          </a:prstGeom>
          <a:noFill/>
          <a:ln/>
        </p:spPr>
        <p:txBody>
          <a:bodyPr wrap="square" lIns="0" tIns="0" rIns="0" bIns="0" rtlCol="0" anchor="ctr"/>
          <a:lstStyle/>
          <a:p>
            <a:pPr indent="0" marL="0">
              <a:buNone/>
            </a:pPr>
            <a:r>
              <a:rPr lang="en-US" sz="1400" b="1" dirty="0">
                <a:solidFill>
                  <a:srgbClr val="12302B"/>
                </a:solidFill>
                <a:latin typeface="Calibri" pitchFamily="34" charset="0"/>
                <a:ea typeface="Calibri" pitchFamily="34" charset="-122"/>
                <a:cs typeface="Calibri" pitchFamily="34" charset="-120"/>
              </a:rPr>
              <a:t>Actual work → Jira coverage</a:t>
            </a:r>
            <a:endParaRPr lang="en-US" sz="1400" dirty="0"/>
          </a:p>
        </p:txBody>
      </p:sp>
      <p:sp>
        <p:nvSpPr>
          <p:cNvPr id="12" name="Text 9"/>
          <p:cNvSpPr txBox="1"/>
          <p:nvPr/>
        </p:nvSpPr>
        <p:spPr>
          <a:xfrm>
            <a:off x="6492240" y="3886200"/>
            <a:ext cx="2057400" cy="731520"/>
          </a:xfrm>
          <a:prstGeom prst="rect">
            <a:avLst/>
          </a:prstGeom>
          <a:noFill/>
          <a:ln/>
        </p:spPr>
        <p:txBody>
          <a:bodyPr wrap="square" lIns="0" tIns="0" rIns="0" bIns="0" rtlCol="0" anchor="ctr"/>
          <a:lstStyle/>
          <a:p>
            <a:pPr indent="0" marL="0">
              <a:buNone/>
            </a:pPr>
            <a:r>
              <a:rPr lang="en-US" sz="1150" i="1" dirty="0">
                <a:solidFill>
                  <a:srgbClr val="1F4A42"/>
                </a:solidFill>
                <a:latin typeface="Calibri" pitchFamily="34" charset="0"/>
                <a:ea typeface="Calibri" pitchFamily="34" charset="-122"/>
                <a:cs typeface="Calibri" pitchFamily="34" charset="-120"/>
              </a:rPr>
              <a:t>Question we own: "What did I do today that Jira doesn't correctly represent?"</a:t>
            </a:r>
            <a:endParaRPr lang="en-US" sz="1150" dirty="0"/>
          </a:p>
        </p:txBody>
      </p:sp>
      <p:sp>
        <p:nvSpPr>
          <p:cNvPr id="13" name="Text 1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MVP: prove matching quality first</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V0 is a local, read-only CLI — no Jira writes until quality is validated</a:t>
            </a:r>
            <a:endParaRPr lang="en-US" sz="1400" dirty="0"/>
          </a:p>
        </p:txBody>
      </p:sp>
      <p:sp>
        <p:nvSpPr>
          <p:cNvPr id="4" name="Shape 2"/>
          <p:cNvSpPr/>
          <p:nvPr/>
        </p:nvSpPr>
        <p:spPr>
          <a:xfrm>
            <a:off x="457200" y="1371600"/>
            <a:ext cx="2651760" cy="3291840"/>
          </a:xfrm>
          <a:prstGeom prst="roundRect">
            <a:avLst>
              <a:gd name="adj" fmla="val 4138"/>
            </a:avLst>
          </a:prstGeom>
          <a:solidFill>
            <a:srgbClr val="12302B"/>
          </a:solidFill>
          <a:ln/>
        </p:spPr>
      </p:sp>
      <p:sp>
        <p:nvSpPr>
          <p:cNvPr id="5" name="Text 3"/>
          <p:cNvSpPr txBox="1"/>
          <p:nvPr/>
        </p:nvSpPr>
        <p:spPr>
          <a:xfrm>
            <a:off x="640080" y="1508760"/>
            <a:ext cx="2286000" cy="320040"/>
          </a:xfrm>
          <a:prstGeom prst="rect">
            <a:avLst/>
          </a:prstGeom>
          <a:noFill/>
          <a:ln/>
        </p:spPr>
        <p:txBody>
          <a:bodyPr wrap="square" lIns="0" tIns="0" rIns="0" bIns="0" rtlCol="0" anchor="ctr"/>
          <a:lstStyle/>
          <a:p>
            <a:pPr indent="0" marL="0">
              <a:buNone/>
            </a:pPr>
            <a:r>
              <a:rPr lang="en-US" sz="1600" b="1" dirty="0">
                <a:solidFill>
                  <a:srgbClr val="E89B2E"/>
                </a:solidFill>
                <a:latin typeface="Cambria" pitchFamily="34" charset="0"/>
                <a:ea typeface="Cambria" pitchFamily="34" charset="-122"/>
                <a:cs typeface="Cambria" pitchFamily="34" charset="-120"/>
              </a:rPr>
              <a:t>In V0</a:t>
            </a:r>
            <a:endParaRPr lang="en-US" sz="1600" dirty="0"/>
          </a:p>
        </p:txBody>
      </p:sp>
      <p:sp>
        <p:nvSpPr>
          <p:cNvPr id="6" name="Text 4"/>
          <p:cNvSpPr txBox="1"/>
          <p:nvPr/>
        </p:nvSpPr>
        <p:spPr>
          <a:xfrm>
            <a:off x="640080" y="1874520"/>
            <a:ext cx="2377440" cy="26974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Session capture via hooks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Structured summaries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Git enrichment</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Jira candidate retrieval</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Ranked matches + evidence</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Missing-Jira flags</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Saved user decisions</a:t>
            </a:r>
            <a:endParaRPr lang="en-US" sz="1200" dirty="0"/>
          </a:p>
        </p:txBody>
      </p:sp>
      <p:sp>
        <p:nvSpPr>
          <p:cNvPr id="7" name="Shape 5"/>
          <p:cNvSpPr/>
          <p:nvPr/>
        </p:nvSpPr>
        <p:spPr>
          <a:xfrm>
            <a:off x="3291840" y="1371600"/>
            <a:ext cx="2194560" cy="3291840"/>
          </a:xfrm>
          <a:prstGeom prst="roundRect">
            <a:avLst>
              <a:gd name="adj" fmla="val 5000"/>
            </a:avLst>
          </a:prstGeom>
          <a:solidFill>
            <a:srgbClr val="E6F0ED"/>
          </a:solidFill>
          <a:ln/>
        </p:spPr>
      </p:sp>
      <p:sp>
        <p:nvSpPr>
          <p:cNvPr id="8" name="Text 6"/>
          <p:cNvSpPr txBox="1"/>
          <p:nvPr/>
        </p:nvSpPr>
        <p:spPr>
          <a:xfrm>
            <a:off x="3474720" y="1508760"/>
            <a:ext cx="1920240" cy="32004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Deliberately out</a:t>
            </a:r>
            <a:endParaRPr lang="en-US" sz="1600" dirty="0"/>
          </a:p>
        </p:txBody>
      </p:sp>
      <p:sp>
        <p:nvSpPr>
          <p:cNvPr id="9" name="Text 7"/>
          <p:cNvSpPr txBox="1"/>
          <p:nvPr/>
        </p:nvSpPr>
        <p:spPr>
          <a:xfrm>
            <a:off x="3474720" y="1874520"/>
            <a:ext cx="1920240" cy="26974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B2B28"/>
                </a:solidFill>
                <a:latin typeface="Calibri" pitchFamily="34" charset="0"/>
                <a:ea typeface="Calibri" pitchFamily="34" charset="-122"/>
                <a:cs typeface="Calibri" pitchFamily="34" charset="-120"/>
              </a:rPr>
              <a:t>Automatic Jira writes</a:t>
            </a:r>
            <a:endParaRPr lang="en-US" sz="1200" dirty="0"/>
          </a:p>
          <a:p>
            <a:pPr marL="342900" indent="-342900">
              <a:spcAft>
                <a:spcPts val="400"/>
              </a:spcAft>
              <a:buSzPct val="100000"/>
              <a:buChar char="•"/>
            </a:pPr>
            <a:r>
              <a:rPr lang="en-US" sz="1200" dirty="0">
                <a:solidFill>
                  <a:srgbClr val="1B2B28"/>
                </a:solidFill>
                <a:latin typeface="Calibri" pitchFamily="34" charset="0"/>
                <a:ea typeface="Calibri" pitchFamily="34" charset="-122"/>
                <a:cs typeface="Calibri" pitchFamily="34" charset="-120"/>
              </a:rPr>
              <a:t>Polished UI</a:t>
            </a:r>
            <a:endParaRPr lang="en-US" sz="1200" dirty="0"/>
          </a:p>
          <a:p>
            <a:pPr marL="342900" indent="-342900">
              <a:spcAft>
                <a:spcPts val="400"/>
              </a:spcAft>
              <a:buSzPct val="100000"/>
              <a:buChar char="•"/>
            </a:pPr>
            <a:r>
              <a:rPr lang="en-US" sz="1200" dirty="0">
                <a:solidFill>
                  <a:srgbClr val="1B2B28"/>
                </a:solidFill>
                <a:latin typeface="Calibri" pitchFamily="34" charset="0"/>
                <a:ea typeface="Calibri" pitchFamily="34" charset="-122"/>
                <a:cs typeface="Calibri" pitchFamily="34" charset="-120"/>
              </a:rPr>
              <a:t>Manager dashboards</a:t>
            </a:r>
            <a:endParaRPr lang="en-US" sz="1200" dirty="0"/>
          </a:p>
          <a:p>
            <a:pPr marL="342900" indent="-342900">
              <a:spcAft>
                <a:spcPts val="400"/>
              </a:spcAft>
              <a:buSzPct val="100000"/>
              <a:buChar char="•"/>
            </a:pPr>
            <a:r>
              <a:rPr lang="en-US" sz="1200" dirty="0">
                <a:solidFill>
                  <a:srgbClr val="1B2B28"/>
                </a:solidFill>
                <a:latin typeface="Calibri" pitchFamily="34" charset="0"/>
                <a:ea typeface="Calibri" pitchFamily="34" charset="-122"/>
                <a:cs typeface="Calibri" pitchFamily="34" charset="-120"/>
              </a:rPr>
              <a:t>Time / billing attribution</a:t>
            </a:r>
            <a:endParaRPr lang="en-US" sz="1200" dirty="0"/>
          </a:p>
          <a:p>
            <a:pPr marL="342900" indent="-342900">
              <a:spcAft>
                <a:spcPts val="400"/>
              </a:spcAft>
              <a:buSzPct val="100000"/>
              <a:buChar char="•"/>
            </a:pPr>
            <a:r>
              <a:rPr lang="en-US" sz="1200" dirty="0">
                <a:solidFill>
                  <a:srgbClr val="1B2B28"/>
                </a:solidFill>
                <a:latin typeface="Calibri" pitchFamily="34" charset="0"/>
                <a:ea typeface="Calibri" pitchFamily="34" charset="-122"/>
                <a:cs typeface="Calibri" pitchFamily="34" charset="-120"/>
              </a:rPr>
              <a:t>Other coding agents</a:t>
            </a:r>
            <a:endParaRPr lang="en-US" sz="1200" dirty="0"/>
          </a:p>
          <a:p>
            <a:pPr marL="342900" indent="-342900">
              <a:spcAft>
                <a:spcPts val="400"/>
              </a:spcAft>
              <a:buSzPct val="100000"/>
              <a:buChar char="•"/>
            </a:pPr>
            <a:r>
              <a:rPr lang="en-US" sz="1200" dirty="0">
                <a:solidFill>
                  <a:srgbClr val="1B2B28"/>
                </a:solidFill>
                <a:latin typeface="Calibri" pitchFamily="34" charset="0"/>
                <a:ea typeface="Calibri" pitchFamily="34" charset="-122"/>
                <a:cs typeface="Calibri" pitchFamily="34" charset="-120"/>
              </a:rPr>
              <a:t>Team sharing, RBAC</a:t>
            </a:r>
            <a:endParaRPr lang="en-US" sz="1200" dirty="0"/>
          </a:p>
        </p:txBody>
      </p:sp>
      <p:sp>
        <p:nvSpPr>
          <p:cNvPr id="10" name="Text 8"/>
          <p:cNvSpPr txBox="1"/>
          <p:nvPr/>
        </p:nvSpPr>
        <p:spPr>
          <a:xfrm>
            <a:off x="5760720" y="1371600"/>
            <a:ext cx="2926080" cy="320040"/>
          </a:xfrm>
          <a:prstGeom prst="rect">
            <a:avLst/>
          </a:prstGeom>
          <a:noFill/>
          <a:ln/>
        </p:spPr>
        <p:txBody>
          <a:bodyPr wrap="square" lIns="0" tIns="0" rIns="0" bIns="0" rtlCol="0" anchor="ctr"/>
          <a:lstStyle/>
          <a:p>
            <a:pPr indent="0" marL="0">
              <a:buNone/>
            </a:pPr>
            <a:r>
              <a:rPr lang="en-US" sz="1600" b="1" dirty="0">
                <a:solidFill>
                  <a:srgbClr val="12302B"/>
                </a:solidFill>
                <a:latin typeface="Cambria" pitchFamily="34" charset="0"/>
                <a:ea typeface="Cambria" pitchFamily="34" charset="-122"/>
                <a:cs typeface="Cambria" pitchFamily="34" charset="-120"/>
              </a:rPr>
              <a:t>Success criteria</a:t>
            </a:r>
            <a:endParaRPr lang="en-US" sz="1600" dirty="0"/>
          </a:p>
        </p:txBody>
      </p:sp>
      <p:sp>
        <p:nvSpPr>
          <p:cNvPr id="11" name="Shape 9"/>
          <p:cNvSpPr/>
          <p:nvPr/>
        </p:nvSpPr>
        <p:spPr>
          <a:xfrm>
            <a:off x="5760720" y="1783080"/>
            <a:ext cx="384048" cy="384048"/>
          </a:xfrm>
          <a:prstGeom prst="ellipse">
            <a:avLst/>
          </a:prstGeom>
          <a:solidFill>
            <a:srgbClr val="E89B2E"/>
          </a:solidFill>
          <a:ln/>
        </p:spPr>
      </p:sp>
      <p:sp>
        <p:nvSpPr>
          <p:cNvPr id="12" name="Text 10"/>
          <p:cNvSpPr txBox="1"/>
          <p:nvPr/>
        </p:nvSpPr>
        <p:spPr>
          <a:xfrm>
            <a:off x="5760720" y="1783080"/>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6263640" y="1783080"/>
            <a:ext cx="2423160" cy="384048"/>
          </a:xfrm>
          <a:prstGeom prst="rect">
            <a:avLst/>
          </a:prstGeom>
          <a:noFill/>
          <a:ln/>
        </p:spPr>
        <p:txBody>
          <a:bodyPr wrap="square" lIns="0" tIns="0" rIns="0" bIns="0" rtlCol="0" anchor="ctr"/>
          <a:lstStyle/>
          <a:p>
            <a:pPr indent="0" marL="0">
              <a:buNone/>
            </a:pPr>
            <a:r>
              <a:rPr lang="en-US" sz="1200" dirty="0">
                <a:solidFill>
                  <a:srgbClr val="1B2B28"/>
                </a:solidFill>
                <a:latin typeface="Calibri" pitchFamily="34" charset="0"/>
                <a:ea typeface="Calibri" pitchFamily="34" charset="-122"/>
                <a:cs typeface="Calibri" pitchFamily="34" charset="-120"/>
              </a:rPr>
              <a:t>Today's sessions reliably found</a:t>
            </a:r>
            <a:endParaRPr lang="en-US" sz="1200" dirty="0"/>
          </a:p>
        </p:txBody>
      </p:sp>
      <p:sp>
        <p:nvSpPr>
          <p:cNvPr id="14" name="Shape 12"/>
          <p:cNvSpPr/>
          <p:nvPr/>
        </p:nvSpPr>
        <p:spPr>
          <a:xfrm>
            <a:off x="5760720" y="2258568"/>
            <a:ext cx="384048" cy="384048"/>
          </a:xfrm>
          <a:prstGeom prst="ellipse">
            <a:avLst/>
          </a:prstGeom>
          <a:solidFill>
            <a:srgbClr val="E89B2E"/>
          </a:solidFill>
          <a:ln/>
        </p:spPr>
      </p:sp>
      <p:sp>
        <p:nvSpPr>
          <p:cNvPr id="15" name="Text 13"/>
          <p:cNvSpPr txBox="1"/>
          <p:nvPr/>
        </p:nvSpPr>
        <p:spPr>
          <a:xfrm>
            <a:off x="5760720" y="2258568"/>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a:t>
            </a:r>
            <a:endParaRPr lang="en-US" sz="1300" dirty="0"/>
          </a:p>
        </p:txBody>
      </p:sp>
      <p:sp>
        <p:nvSpPr>
          <p:cNvPr id="16" name="Text 14"/>
          <p:cNvSpPr txBox="1"/>
          <p:nvPr/>
        </p:nvSpPr>
        <p:spPr>
          <a:xfrm>
            <a:off x="6263640" y="2258568"/>
            <a:ext cx="2423160" cy="384048"/>
          </a:xfrm>
          <a:prstGeom prst="rect">
            <a:avLst/>
          </a:prstGeom>
          <a:noFill/>
          <a:ln/>
        </p:spPr>
        <p:txBody>
          <a:bodyPr wrap="square" lIns="0" tIns="0" rIns="0" bIns="0" rtlCol="0" anchor="ctr"/>
          <a:lstStyle/>
          <a:p>
            <a:pPr indent="0" marL="0">
              <a:buNone/>
            </a:pPr>
            <a:r>
              <a:rPr lang="en-US" sz="1200" dirty="0">
                <a:solidFill>
                  <a:srgbClr val="1B2B28"/>
                </a:solidFill>
                <a:latin typeface="Calibri" pitchFamily="34" charset="0"/>
                <a:ea typeface="Calibri" pitchFamily="34" charset="-122"/>
                <a:cs typeface="Calibri" pitchFamily="34" charset="-120"/>
              </a:rPr>
              <a:t>Jira keys map correctly without AI calls</a:t>
            </a:r>
            <a:endParaRPr lang="en-US" sz="1200" dirty="0"/>
          </a:p>
        </p:txBody>
      </p:sp>
      <p:sp>
        <p:nvSpPr>
          <p:cNvPr id="17" name="Shape 15"/>
          <p:cNvSpPr/>
          <p:nvPr/>
        </p:nvSpPr>
        <p:spPr>
          <a:xfrm>
            <a:off x="5760720" y="2734056"/>
            <a:ext cx="384048" cy="384048"/>
          </a:xfrm>
          <a:prstGeom prst="ellipse">
            <a:avLst/>
          </a:prstGeom>
          <a:solidFill>
            <a:srgbClr val="E89B2E"/>
          </a:solidFill>
          <a:ln/>
        </p:spPr>
      </p:sp>
      <p:sp>
        <p:nvSpPr>
          <p:cNvPr id="18" name="Text 16"/>
          <p:cNvSpPr txBox="1"/>
          <p:nvPr/>
        </p:nvSpPr>
        <p:spPr>
          <a:xfrm>
            <a:off x="5760720" y="2734056"/>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a:t>
            </a:r>
            <a:endParaRPr lang="en-US" sz="1300" dirty="0"/>
          </a:p>
        </p:txBody>
      </p:sp>
      <p:sp>
        <p:nvSpPr>
          <p:cNvPr id="19" name="Text 17"/>
          <p:cNvSpPr txBox="1"/>
          <p:nvPr/>
        </p:nvSpPr>
        <p:spPr>
          <a:xfrm>
            <a:off x="6263640" y="2734056"/>
            <a:ext cx="2423160" cy="384048"/>
          </a:xfrm>
          <a:prstGeom prst="rect">
            <a:avLst/>
          </a:prstGeom>
          <a:noFill/>
          <a:ln/>
        </p:spPr>
        <p:txBody>
          <a:bodyPr wrap="square" lIns="0" tIns="0" rIns="0" bIns="0" rtlCol="0" anchor="ctr"/>
          <a:lstStyle/>
          <a:p>
            <a:pPr indent="0" marL="0">
              <a:buNone/>
            </a:pPr>
            <a:r>
              <a:rPr lang="en-US" sz="1200" dirty="0">
                <a:solidFill>
                  <a:srgbClr val="1B2B28"/>
                </a:solidFill>
                <a:latin typeface="Calibri" pitchFamily="34" charset="0"/>
                <a:ea typeface="Calibri" pitchFamily="34" charset="-122"/>
                <a:cs typeface="Calibri" pitchFamily="34" charset="-120"/>
              </a:rPr>
              <a:t>Developers usually confirm a suggestion</a:t>
            </a:r>
            <a:endParaRPr lang="en-US" sz="1200" dirty="0"/>
          </a:p>
        </p:txBody>
      </p:sp>
      <p:sp>
        <p:nvSpPr>
          <p:cNvPr id="20" name="Shape 18"/>
          <p:cNvSpPr/>
          <p:nvPr/>
        </p:nvSpPr>
        <p:spPr>
          <a:xfrm>
            <a:off x="5760720" y="3209544"/>
            <a:ext cx="384048" cy="384048"/>
          </a:xfrm>
          <a:prstGeom prst="ellipse">
            <a:avLst/>
          </a:prstGeom>
          <a:solidFill>
            <a:srgbClr val="E89B2E"/>
          </a:solidFill>
          <a:ln/>
        </p:spPr>
      </p:sp>
      <p:sp>
        <p:nvSpPr>
          <p:cNvPr id="21" name="Text 19"/>
          <p:cNvSpPr txBox="1"/>
          <p:nvPr/>
        </p:nvSpPr>
        <p:spPr>
          <a:xfrm>
            <a:off x="5760720" y="3209544"/>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a:t>
            </a:r>
            <a:endParaRPr lang="en-US" sz="1300" dirty="0"/>
          </a:p>
        </p:txBody>
      </p:sp>
      <p:sp>
        <p:nvSpPr>
          <p:cNvPr id="22" name="Text 20"/>
          <p:cNvSpPr txBox="1"/>
          <p:nvPr/>
        </p:nvSpPr>
        <p:spPr>
          <a:xfrm>
            <a:off x="6263640" y="3209544"/>
            <a:ext cx="2423160" cy="384048"/>
          </a:xfrm>
          <a:prstGeom prst="rect">
            <a:avLst/>
          </a:prstGeom>
          <a:noFill/>
          <a:ln/>
        </p:spPr>
        <p:txBody>
          <a:bodyPr wrap="square" lIns="0" tIns="0" rIns="0" bIns="0" rtlCol="0" anchor="ctr"/>
          <a:lstStyle/>
          <a:p>
            <a:pPr indent="0" marL="0">
              <a:buNone/>
            </a:pPr>
            <a:r>
              <a:rPr lang="en-US" sz="1200" dirty="0">
                <a:solidFill>
                  <a:srgbClr val="1B2B28"/>
                </a:solidFill>
                <a:latin typeface="Calibri" pitchFamily="34" charset="0"/>
                <a:ea typeface="Calibri" pitchFamily="34" charset="-122"/>
                <a:cs typeface="Calibri" pitchFamily="34" charset="-120"/>
              </a:rPr>
              <a:t>Untracked work clearly surfaced</a:t>
            </a:r>
            <a:endParaRPr lang="en-US" sz="1200" dirty="0"/>
          </a:p>
        </p:txBody>
      </p:sp>
      <p:sp>
        <p:nvSpPr>
          <p:cNvPr id="23" name="Shape 21"/>
          <p:cNvSpPr/>
          <p:nvPr/>
        </p:nvSpPr>
        <p:spPr>
          <a:xfrm>
            <a:off x="5760720" y="3685032"/>
            <a:ext cx="384048" cy="384048"/>
          </a:xfrm>
          <a:prstGeom prst="ellipse">
            <a:avLst/>
          </a:prstGeom>
          <a:solidFill>
            <a:srgbClr val="E89B2E"/>
          </a:solidFill>
          <a:ln/>
        </p:spPr>
      </p:sp>
      <p:sp>
        <p:nvSpPr>
          <p:cNvPr id="24" name="Text 22"/>
          <p:cNvSpPr txBox="1"/>
          <p:nvPr/>
        </p:nvSpPr>
        <p:spPr>
          <a:xfrm>
            <a:off x="5760720" y="3685032"/>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a:t>
            </a:r>
            <a:endParaRPr lang="en-US" sz="1300" dirty="0"/>
          </a:p>
        </p:txBody>
      </p:sp>
      <p:sp>
        <p:nvSpPr>
          <p:cNvPr id="25" name="Text 23"/>
          <p:cNvSpPr txBox="1"/>
          <p:nvPr/>
        </p:nvSpPr>
        <p:spPr>
          <a:xfrm>
            <a:off x="6263640" y="3685032"/>
            <a:ext cx="2423160" cy="384048"/>
          </a:xfrm>
          <a:prstGeom prst="rect">
            <a:avLst/>
          </a:prstGeom>
          <a:noFill/>
          <a:ln/>
        </p:spPr>
        <p:txBody>
          <a:bodyPr wrap="square" lIns="0" tIns="0" rIns="0" bIns="0" rtlCol="0" anchor="ctr"/>
          <a:lstStyle/>
          <a:p>
            <a:pPr indent="0" marL="0">
              <a:buNone/>
            </a:pPr>
            <a:r>
              <a:rPr lang="en-US" sz="1200" dirty="0">
                <a:solidFill>
                  <a:srgbClr val="1B2B28"/>
                </a:solidFill>
                <a:latin typeface="Calibri" pitchFamily="34" charset="0"/>
                <a:ea typeface="Calibri" pitchFamily="34" charset="-122"/>
                <a:cs typeface="Calibri" pitchFamily="34" charset="-120"/>
              </a:rPr>
              <a:t>Updates beat one-line retro notes</a:t>
            </a:r>
            <a:endParaRPr lang="en-US" sz="1200" dirty="0"/>
          </a:p>
        </p:txBody>
      </p:sp>
      <p:sp>
        <p:nvSpPr>
          <p:cNvPr id="26" name="Shape 24"/>
          <p:cNvSpPr/>
          <p:nvPr/>
        </p:nvSpPr>
        <p:spPr>
          <a:xfrm>
            <a:off x="5760720" y="4160520"/>
            <a:ext cx="384048" cy="384048"/>
          </a:xfrm>
          <a:prstGeom prst="ellipse">
            <a:avLst/>
          </a:prstGeom>
          <a:solidFill>
            <a:srgbClr val="E89B2E"/>
          </a:solidFill>
          <a:ln/>
        </p:spPr>
      </p:sp>
      <p:sp>
        <p:nvSpPr>
          <p:cNvPr id="27" name="Text 25"/>
          <p:cNvSpPr txBox="1"/>
          <p:nvPr/>
        </p:nvSpPr>
        <p:spPr>
          <a:xfrm>
            <a:off x="5760720" y="4160520"/>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a:t>
            </a:r>
            <a:endParaRPr lang="en-US" sz="1300" dirty="0"/>
          </a:p>
        </p:txBody>
      </p:sp>
      <p:sp>
        <p:nvSpPr>
          <p:cNvPr id="28" name="Text 26"/>
          <p:cNvSpPr txBox="1"/>
          <p:nvPr/>
        </p:nvSpPr>
        <p:spPr>
          <a:xfrm>
            <a:off x="6263640" y="4160520"/>
            <a:ext cx="2423160" cy="384048"/>
          </a:xfrm>
          <a:prstGeom prst="rect">
            <a:avLst/>
          </a:prstGeom>
          <a:noFill/>
          <a:ln/>
        </p:spPr>
        <p:txBody>
          <a:bodyPr wrap="square" lIns="0" tIns="0" rIns="0" bIns="0" rtlCol="0" anchor="ctr"/>
          <a:lstStyle/>
          <a:p>
            <a:pPr indent="0" marL="0">
              <a:buNone/>
            </a:pPr>
            <a:r>
              <a:rPr lang="en-US" sz="1200" dirty="0">
                <a:solidFill>
                  <a:srgbClr val="1B2B28"/>
                </a:solidFill>
                <a:latin typeface="Calibri" pitchFamily="34" charset="0"/>
                <a:ea typeface="Calibri" pitchFamily="34" charset="-122"/>
                <a:cs typeface="Calibri" pitchFamily="34" charset="-120"/>
              </a:rPr>
              <a:t>Full day reviewed in minutes</a:t>
            </a:r>
            <a:endParaRPr lang="en-US" sz="1200" dirty="0"/>
          </a:p>
        </p:txBody>
      </p:sp>
      <p:sp>
        <p:nvSpPr>
          <p:cNvPr id="29" name="Text 27"/>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3000" b="1" dirty="0">
                <a:solidFill>
                  <a:srgbClr val="12302B"/>
                </a:solidFill>
                <a:latin typeface="Cambria" pitchFamily="34" charset="0"/>
                <a:ea typeface="Cambria" pitchFamily="34" charset="-122"/>
                <a:cs typeface="Cambria" pitchFamily="34" charset="-120"/>
              </a:rPr>
              <a:t>Roadmap: riskiest assumptions first</a:t>
            </a:r>
            <a:endParaRPr lang="en-US" sz="3000" dirty="0"/>
          </a:p>
        </p:txBody>
      </p:sp>
      <p:sp>
        <p:nvSpPr>
          <p:cNvPr id="3" name="Text 1"/>
          <p:cNvSpPr txBox="1"/>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E706C"/>
                </a:solidFill>
                <a:latin typeface="Calibri" pitchFamily="34" charset="0"/>
                <a:ea typeface="Calibri" pitchFamily="34" charset="-122"/>
                <a:cs typeface="Calibri" pitchFamily="34" charset="-120"/>
              </a:rPr>
              <a:t>Each phase earns the next — engine before UI, single developer before team</a:t>
            </a:r>
            <a:endParaRPr lang="en-US" sz="1400" dirty="0"/>
          </a:p>
        </p:txBody>
      </p:sp>
      <p:sp>
        <p:nvSpPr>
          <p:cNvPr id="4" name="Shape 2"/>
          <p:cNvSpPr/>
          <p:nvPr/>
        </p:nvSpPr>
        <p:spPr>
          <a:xfrm>
            <a:off x="640080" y="2331720"/>
            <a:ext cx="7863840" cy="0"/>
          </a:xfrm>
          <a:prstGeom prst="line">
            <a:avLst/>
          </a:prstGeom>
          <a:noFill/>
          <a:ln w="25400">
            <a:solidFill>
              <a:srgbClr val="B9D6CE"/>
            </a:solidFill>
            <a:prstDash val="solid"/>
          </a:ln>
        </p:spPr>
      </p:sp>
      <p:sp>
        <p:nvSpPr>
          <p:cNvPr id="5" name="Shape 3"/>
          <p:cNvSpPr/>
          <p:nvPr/>
        </p:nvSpPr>
        <p:spPr>
          <a:xfrm>
            <a:off x="923544" y="2203704"/>
            <a:ext cx="256032" cy="256032"/>
          </a:xfrm>
          <a:prstGeom prst="ellipse">
            <a:avLst/>
          </a:prstGeom>
          <a:solidFill>
            <a:srgbClr val="E89B2E"/>
          </a:solidFill>
          <a:ln/>
        </p:spPr>
      </p:sp>
      <p:sp>
        <p:nvSpPr>
          <p:cNvPr id="6" name="Text 4"/>
          <p:cNvSpPr txBox="1"/>
          <p:nvPr/>
        </p:nvSpPr>
        <p:spPr>
          <a:xfrm>
            <a:off x="502920" y="1554480"/>
            <a:ext cx="1097280" cy="365760"/>
          </a:xfrm>
          <a:prstGeom prst="rect">
            <a:avLst/>
          </a:prstGeom>
          <a:noFill/>
          <a:ln/>
        </p:spPr>
        <p:txBody>
          <a:bodyPr wrap="square" lIns="0" tIns="0" rIns="0" bIns="0" rtlCol="0" anchor="ctr"/>
          <a:lstStyle/>
          <a:p>
            <a:pPr algn="ctr" indent="0" marL="0">
              <a:buNone/>
            </a:pPr>
            <a:r>
              <a:rPr lang="en-US" sz="1600" b="1" dirty="0">
                <a:solidFill>
                  <a:srgbClr val="E89B2E"/>
                </a:solidFill>
                <a:latin typeface="Cambria" pitchFamily="34" charset="0"/>
                <a:ea typeface="Cambria" pitchFamily="34" charset="-122"/>
                <a:cs typeface="Cambria" pitchFamily="34" charset="-120"/>
              </a:rPr>
              <a:t>Phase 0</a:t>
            </a:r>
            <a:endParaRPr lang="en-US" sz="1600" dirty="0"/>
          </a:p>
        </p:txBody>
      </p:sp>
      <p:sp>
        <p:nvSpPr>
          <p:cNvPr id="7" name="Shape 5"/>
          <p:cNvSpPr/>
          <p:nvPr/>
        </p:nvSpPr>
        <p:spPr>
          <a:xfrm>
            <a:off x="502920" y="2697480"/>
            <a:ext cx="1097280" cy="1463040"/>
          </a:xfrm>
          <a:prstGeom prst="roundRect">
            <a:avLst>
              <a:gd name="adj" fmla="val 6667"/>
            </a:avLst>
          </a:prstGeom>
          <a:solidFill>
            <a:srgbClr val="FCF1DF"/>
          </a:solidFill>
          <a:ln/>
        </p:spPr>
      </p:sp>
      <p:sp>
        <p:nvSpPr>
          <p:cNvPr id="8" name="Text 6"/>
          <p:cNvSpPr txBox="1"/>
          <p:nvPr/>
        </p:nvSpPr>
        <p:spPr>
          <a:xfrm>
            <a:off x="576072" y="2788920"/>
            <a:ext cx="950976" cy="502920"/>
          </a:xfrm>
          <a:prstGeom prst="rect">
            <a:avLst/>
          </a:prstGeom>
          <a:noFill/>
          <a:ln/>
        </p:spPr>
        <p:txBody>
          <a:bodyPr wrap="square" lIns="0" tIns="0" rIns="0" bIns="0" rtlCol="0" anchor="ctr"/>
          <a:lstStyle/>
          <a:p>
            <a:pPr indent="0" marL="0">
              <a:buNone/>
            </a:pPr>
            <a:r>
              <a:rPr lang="en-US" sz="1200" b="1" dirty="0">
                <a:solidFill>
                  <a:srgbClr val="12302B"/>
                </a:solidFill>
                <a:latin typeface="Calibri" pitchFamily="34" charset="0"/>
                <a:ea typeface="Calibri" pitchFamily="34" charset="-122"/>
                <a:cs typeface="Calibri" pitchFamily="34" charset="-120"/>
              </a:rPr>
              <a:t>Concept validation</a:t>
            </a:r>
            <a:endParaRPr lang="en-US" sz="1200" dirty="0"/>
          </a:p>
        </p:txBody>
      </p:sp>
      <p:sp>
        <p:nvSpPr>
          <p:cNvPr id="9" name="Text 7"/>
          <p:cNvSpPr txBox="1"/>
          <p:nvPr/>
        </p:nvSpPr>
        <p:spPr>
          <a:xfrm>
            <a:off x="576072" y="3291840"/>
            <a:ext cx="950976" cy="822960"/>
          </a:xfrm>
          <a:prstGeom prst="rect">
            <a:avLst/>
          </a:prstGeom>
          <a:noFill/>
          <a:ln/>
        </p:spPr>
        <p:txBody>
          <a:bodyPr wrap="square" lIns="0" tIns="0" rIns="0" bIns="0" rtlCol="0" anchor="t"/>
          <a:lstStyle/>
          <a:p>
            <a:pPr indent="0" marL="0">
              <a:buNone/>
            </a:pPr>
            <a:r>
              <a:rPr lang="en-US" sz="1050" dirty="0">
                <a:solidFill>
                  <a:srgbClr val="1B2B28"/>
                </a:solidFill>
                <a:latin typeface="Calibri" pitchFamily="34" charset="0"/>
                <a:ea typeface="Calibri" pitchFamily="34" charset="-122"/>
                <a:cs typeface="Calibri" pitchFamily="34" charset="-120"/>
              </a:rPr>
              <a:t>Script: today's sessions + likely Jira</a:t>
            </a:r>
            <a:endParaRPr lang="en-US" sz="1050" dirty="0"/>
          </a:p>
        </p:txBody>
      </p:sp>
      <p:sp>
        <p:nvSpPr>
          <p:cNvPr id="10" name="Shape 8"/>
          <p:cNvSpPr/>
          <p:nvPr/>
        </p:nvSpPr>
        <p:spPr>
          <a:xfrm>
            <a:off x="2112264" y="2203704"/>
            <a:ext cx="256032" cy="256032"/>
          </a:xfrm>
          <a:prstGeom prst="ellipse">
            <a:avLst/>
          </a:prstGeom>
          <a:solidFill>
            <a:srgbClr val="E89B2E"/>
          </a:solidFill>
          <a:ln/>
        </p:spPr>
      </p:sp>
      <p:sp>
        <p:nvSpPr>
          <p:cNvPr id="11" name="Text 9"/>
          <p:cNvSpPr txBox="1"/>
          <p:nvPr/>
        </p:nvSpPr>
        <p:spPr>
          <a:xfrm>
            <a:off x="1691640" y="1554480"/>
            <a:ext cx="1097280" cy="365760"/>
          </a:xfrm>
          <a:prstGeom prst="rect">
            <a:avLst/>
          </a:prstGeom>
          <a:noFill/>
          <a:ln/>
        </p:spPr>
        <p:txBody>
          <a:bodyPr wrap="square" lIns="0" tIns="0" rIns="0" bIns="0" rtlCol="0" anchor="ctr"/>
          <a:lstStyle/>
          <a:p>
            <a:pPr algn="ctr" indent="0" marL="0">
              <a:buNone/>
            </a:pPr>
            <a:r>
              <a:rPr lang="en-US" sz="1600" b="1" dirty="0">
                <a:solidFill>
                  <a:srgbClr val="E89B2E"/>
                </a:solidFill>
                <a:latin typeface="Cambria" pitchFamily="34" charset="0"/>
                <a:ea typeface="Cambria" pitchFamily="34" charset="-122"/>
                <a:cs typeface="Cambria" pitchFamily="34" charset="-120"/>
              </a:rPr>
              <a:t>V0</a:t>
            </a:r>
            <a:endParaRPr lang="en-US" sz="1600" dirty="0"/>
          </a:p>
        </p:txBody>
      </p:sp>
      <p:sp>
        <p:nvSpPr>
          <p:cNvPr id="12" name="Shape 10"/>
          <p:cNvSpPr/>
          <p:nvPr/>
        </p:nvSpPr>
        <p:spPr>
          <a:xfrm>
            <a:off x="1691640" y="2697480"/>
            <a:ext cx="1097280" cy="1463040"/>
          </a:xfrm>
          <a:prstGeom prst="roundRect">
            <a:avLst>
              <a:gd name="adj" fmla="val 6667"/>
            </a:avLst>
          </a:prstGeom>
          <a:solidFill>
            <a:srgbClr val="FCF1DF"/>
          </a:solidFill>
          <a:ln/>
        </p:spPr>
      </p:sp>
      <p:sp>
        <p:nvSpPr>
          <p:cNvPr id="13" name="Text 11"/>
          <p:cNvSpPr txBox="1"/>
          <p:nvPr/>
        </p:nvSpPr>
        <p:spPr>
          <a:xfrm>
            <a:off x="1764792" y="2788920"/>
            <a:ext cx="950976" cy="502920"/>
          </a:xfrm>
          <a:prstGeom prst="rect">
            <a:avLst/>
          </a:prstGeom>
          <a:noFill/>
          <a:ln/>
        </p:spPr>
        <p:txBody>
          <a:bodyPr wrap="square" lIns="0" tIns="0" rIns="0" bIns="0" rtlCol="0" anchor="ctr"/>
          <a:lstStyle/>
          <a:p>
            <a:pPr indent="0" marL="0">
              <a:buNone/>
            </a:pPr>
            <a:r>
              <a:rPr lang="en-US" sz="1200" b="1" dirty="0">
                <a:solidFill>
                  <a:srgbClr val="12302B"/>
                </a:solidFill>
                <a:latin typeface="Calibri" pitchFamily="34" charset="0"/>
                <a:ea typeface="Calibri" pitchFamily="34" charset="-122"/>
                <a:cs typeface="Calibri" pitchFamily="34" charset="-120"/>
              </a:rPr>
              <a:t>Read-only CLI</a:t>
            </a:r>
            <a:endParaRPr lang="en-US" sz="1200" dirty="0"/>
          </a:p>
        </p:txBody>
      </p:sp>
      <p:sp>
        <p:nvSpPr>
          <p:cNvPr id="14" name="Text 12"/>
          <p:cNvSpPr txBox="1"/>
          <p:nvPr/>
        </p:nvSpPr>
        <p:spPr>
          <a:xfrm>
            <a:off x="1764792" y="3291840"/>
            <a:ext cx="950976" cy="822960"/>
          </a:xfrm>
          <a:prstGeom prst="rect">
            <a:avLst/>
          </a:prstGeom>
          <a:noFill/>
          <a:ln/>
        </p:spPr>
        <p:txBody>
          <a:bodyPr wrap="square" lIns="0" tIns="0" rIns="0" bIns="0" rtlCol="0" anchor="t"/>
          <a:lstStyle/>
          <a:p>
            <a:pPr indent="0" marL="0">
              <a:buNone/>
            </a:pPr>
            <a:r>
              <a:rPr lang="en-US" sz="1050" dirty="0">
                <a:solidFill>
                  <a:srgbClr val="1B2B28"/>
                </a:solidFill>
                <a:latin typeface="Calibri" pitchFamily="34" charset="0"/>
                <a:ea typeface="Calibri" pitchFamily="34" charset="-122"/>
                <a:cs typeface="Calibri" pitchFamily="34" charset="-120"/>
              </a:rPr>
              <a:t>End-of-day reconciliation</a:t>
            </a:r>
            <a:endParaRPr lang="en-US" sz="1050" dirty="0"/>
          </a:p>
        </p:txBody>
      </p:sp>
      <p:sp>
        <p:nvSpPr>
          <p:cNvPr id="15" name="Shape 13"/>
          <p:cNvSpPr/>
          <p:nvPr/>
        </p:nvSpPr>
        <p:spPr>
          <a:xfrm>
            <a:off x="3300984" y="2203704"/>
            <a:ext cx="256032" cy="256032"/>
          </a:xfrm>
          <a:prstGeom prst="ellipse">
            <a:avLst/>
          </a:prstGeom>
          <a:solidFill>
            <a:srgbClr val="12302B"/>
          </a:solidFill>
          <a:ln/>
        </p:spPr>
      </p:sp>
      <p:sp>
        <p:nvSpPr>
          <p:cNvPr id="16" name="Text 14"/>
          <p:cNvSpPr txBox="1"/>
          <p:nvPr/>
        </p:nvSpPr>
        <p:spPr>
          <a:xfrm>
            <a:off x="2880360" y="1554480"/>
            <a:ext cx="1097280" cy="365760"/>
          </a:xfrm>
          <a:prstGeom prst="rect">
            <a:avLst/>
          </a:prstGeom>
          <a:noFill/>
          <a:ln/>
        </p:spPr>
        <p:txBody>
          <a:bodyPr wrap="square" lIns="0" tIns="0" rIns="0" bIns="0" rtlCol="0" anchor="ctr"/>
          <a:lstStyle/>
          <a:p>
            <a:pPr algn="ctr" indent="0" marL="0">
              <a:buNone/>
            </a:pPr>
            <a:r>
              <a:rPr lang="en-US" sz="1600" b="1" dirty="0">
                <a:solidFill>
                  <a:srgbClr val="12302B"/>
                </a:solidFill>
                <a:latin typeface="Cambria" pitchFamily="34" charset="0"/>
                <a:ea typeface="Cambria" pitchFamily="34" charset="-122"/>
                <a:cs typeface="Cambria" pitchFamily="34" charset="-120"/>
              </a:rPr>
              <a:t>V0.5</a:t>
            </a:r>
            <a:endParaRPr lang="en-US" sz="1600" dirty="0"/>
          </a:p>
        </p:txBody>
      </p:sp>
      <p:sp>
        <p:nvSpPr>
          <p:cNvPr id="17" name="Shape 15"/>
          <p:cNvSpPr/>
          <p:nvPr/>
        </p:nvSpPr>
        <p:spPr>
          <a:xfrm>
            <a:off x="2880360" y="2697480"/>
            <a:ext cx="1097280" cy="1463040"/>
          </a:xfrm>
          <a:prstGeom prst="roundRect">
            <a:avLst>
              <a:gd name="adj" fmla="val 6667"/>
            </a:avLst>
          </a:prstGeom>
          <a:solidFill>
            <a:srgbClr val="E6F0ED"/>
          </a:solidFill>
          <a:ln/>
        </p:spPr>
      </p:sp>
      <p:sp>
        <p:nvSpPr>
          <p:cNvPr id="18" name="Text 16"/>
          <p:cNvSpPr txBox="1"/>
          <p:nvPr/>
        </p:nvSpPr>
        <p:spPr>
          <a:xfrm>
            <a:off x="2953512" y="2788920"/>
            <a:ext cx="950976" cy="502920"/>
          </a:xfrm>
          <a:prstGeom prst="rect">
            <a:avLst/>
          </a:prstGeom>
          <a:noFill/>
          <a:ln/>
        </p:spPr>
        <p:txBody>
          <a:bodyPr wrap="square" lIns="0" tIns="0" rIns="0" bIns="0" rtlCol="0" anchor="ctr"/>
          <a:lstStyle/>
          <a:p>
            <a:pPr indent="0" marL="0">
              <a:buNone/>
            </a:pPr>
            <a:r>
              <a:rPr lang="en-US" sz="1200" b="1" dirty="0">
                <a:solidFill>
                  <a:srgbClr val="12302B"/>
                </a:solidFill>
                <a:latin typeface="Calibri" pitchFamily="34" charset="0"/>
                <a:ea typeface="Calibri" pitchFamily="34" charset="-122"/>
                <a:cs typeface="Calibri" pitchFamily="34" charset="-120"/>
              </a:rPr>
              <a:t>Controlled write-back</a:t>
            </a:r>
            <a:endParaRPr lang="en-US" sz="1200" dirty="0"/>
          </a:p>
        </p:txBody>
      </p:sp>
      <p:sp>
        <p:nvSpPr>
          <p:cNvPr id="19" name="Text 17"/>
          <p:cNvSpPr txBox="1"/>
          <p:nvPr/>
        </p:nvSpPr>
        <p:spPr>
          <a:xfrm>
            <a:off x="2953512" y="3291840"/>
            <a:ext cx="950976" cy="822960"/>
          </a:xfrm>
          <a:prstGeom prst="rect">
            <a:avLst/>
          </a:prstGeom>
          <a:noFill/>
          <a:ln/>
        </p:spPr>
        <p:txBody>
          <a:bodyPr wrap="square" lIns="0" tIns="0" rIns="0" bIns="0" rtlCol="0" anchor="t"/>
          <a:lstStyle/>
          <a:p>
            <a:pPr indent="0" marL="0">
              <a:buNone/>
            </a:pPr>
            <a:r>
              <a:rPr lang="en-US" sz="1050" dirty="0">
                <a:solidFill>
                  <a:srgbClr val="1B2B28"/>
                </a:solidFill>
                <a:latin typeface="Calibri" pitchFamily="34" charset="0"/>
                <a:ea typeface="Calibri" pitchFamily="34" charset="-122"/>
                <a:cs typeface="Calibri" pitchFamily="34" charset="-120"/>
              </a:rPr>
              <a:t>Preview → confirm → Jira comment</a:t>
            </a:r>
            <a:endParaRPr lang="en-US" sz="1050" dirty="0"/>
          </a:p>
        </p:txBody>
      </p:sp>
      <p:sp>
        <p:nvSpPr>
          <p:cNvPr id="20" name="Shape 18"/>
          <p:cNvSpPr/>
          <p:nvPr/>
        </p:nvSpPr>
        <p:spPr>
          <a:xfrm>
            <a:off x="4489704" y="2203704"/>
            <a:ext cx="256032" cy="256032"/>
          </a:xfrm>
          <a:prstGeom prst="ellipse">
            <a:avLst/>
          </a:prstGeom>
          <a:solidFill>
            <a:srgbClr val="12302B"/>
          </a:solidFill>
          <a:ln/>
        </p:spPr>
      </p:sp>
      <p:sp>
        <p:nvSpPr>
          <p:cNvPr id="21" name="Text 19"/>
          <p:cNvSpPr txBox="1"/>
          <p:nvPr/>
        </p:nvSpPr>
        <p:spPr>
          <a:xfrm>
            <a:off x="4069080" y="1554480"/>
            <a:ext cx="1097280" cy="365760"/>
          </a:xfrm>
          <a:prstGeom prst="rect">
            <a:avLst/>
          </a:prstGeom>
          <a:noFill/>
          <a:ln/>
        </p:spPr>
        <p:txBody>
          <a:bodyPr wrap="square" lIns="0" tIns="0" rIns="0" bIns="0" rtlCol="0" anchor="ctr"/>
          <a:lstStyle/>
          <a:p>
            <a:pPr algn="ctr" indent="0" marL="0">
              <a:buNone/>
            </a:pPr>
            <a:r>
              <a:rPr lang="en-US" sz="1600" b="1" dirty="0">
                <a:solidFill>
                  <a:srgbClr val="12302B"/>
                </a:solidFill>
                <a:latin typeface="Cambria" pitchFamily="34" charset="0"/>
                <a:ea typeface="Cambria" pitchFamily="34" charset="-122"/>
                <a:cs typeface="Cambria" pitchFamily="34" charset="-120"/>
              </a:rPr>
              <a:t>V1</a:t>
            </a:r>
            <a:endParaRPr lang="en-US" sz="1600" dirty="0"/>
          </a:p>
        </p:txBody>
      </p:sp>
      <p:sp>
        <p:nvSpPr>
          <p:cNvPr id="22" name="Shape 20"/>
          <p:cNvSpPr/>
          <p:nvPr/>
        </p:nvSpPr>
        <p:spPr>
          <a:xfrm>
            <a:off x="4069080" y="2697480"/>
            <a:ext cx="1097280" cy="1463040"/>
          </a:xfrm>
          <a:prstGeom prst="roundRect">
            <a:avLst>
              <a:gd name="adj" fmla="val 6667"/>
            </a:avLst>
          </a:prstGeom>
          <a:solidFill>
            <a:srgbClr val="E6F0ED"/>
          </a:solidFill>
          <a:ln/>
        </p:spPr>
      </p:sp>
      <p:sp>
        <p:nvSpPr>
          <p:cNvPr id="23" name="Text 21"/>
          <p:cNvSpPr txBox="1"/>
          <p:nvPr/>
        </p:nvSpPr>
        <p:spPr>
          <a:xfrm>
            <a:off x="4142232" y="2788920"/>
            <a:ext cx="950976" cy="502920"/>
          </a:xfrm>
          <a:prstGeom prst="rect">
            <a:avLst/>
          </a:prstGeom>
          <a:noFill/>
          <a:ln/>
        </p:spPr>
        <p:txBody>
          <a:bodyPr wrap="square" lIns="0" tIns="0" rIns="0" bIns="0" rtlCol="0" anchor="ctr"/>
          <a:lstStyle/>
          <a:p>
            <a:pPr indent="0" marL="0">
              <a:buNone/>
            </a:pPr>
            <a:r>
              <a:rPr lang="en-US" sz="1200" b="1" dirty="0">
                <a:solidFill>
                  <a:srgbClr val="12302B"/>
                </a:solidFill>
                <a:latin typeface="Calibri" pitchFamily="34" charset="0"/>
                <a:ea typeface="Calibri" pitchFamily="34" charset="-122"/>
                <a:cs typeface="Calibri" pitchFamily="34" charset="-120"/>
              </a:rPr>
              <a:t>Reconciliation UI</a:t>
            </a:r>
            <a:endParaRPr lang="en-US" sz="1200" dirty="0"/>
          </a:p>
        </p:txBody>
      </p:sp>
      <p:sp>
        <p:nvSpPr>
          <p:cNvPr id="24" name="Text 22"/>
          <p:cNvSpPr txBox="1"/>
          <p:nvPr/>
        </p:nvSpPr>
        <p:spPr>
          <a:xfrm>
            <a:off x="4142232" y="3291840"/>
            <a:ext cx="950976" cy="822960"/>
          </a:xfrm>
          <a:prstGeom prst="rect">
            <a:avLst/>
          </a:prstGeom>
          <a:noFill/>
          <a:ln/>
        </p:spPr>
        <p:txBody>
          <a:bodyPr wrap="square" lIns="0" tIns="0" rIns="0" bIns="0" rtlCol="0" anchor="t"/>
          <a:lstStyle/>
          <a:p>
            <a:pPr indent="0" marL="0">
              <a:buNone/>
            </a:pPr>
            <a:r>
              <a:rPr lang="en-US" sz="1050" dirty="0">
                <a:solidFill>
                  <a:srgbClr val="1B2B28"/>
                </a:solidFill>
                <a:latin typeface="Calibri" pitchFamily="34" charset="0"/>
                <a:ea typeface="Calibri" pitchFamily="34" charset="-122"/>
                <a:cs typeface="Calibri" pitchFamily="34" charset="-120"/>
              </a:rPr>
              <a:t>Two-panel, drag-and-drop correction</a:t>
            </a:r>
            <a:endParaRPr lang="en-US" sz="1050" dirty="0"/>
          </a:p>
        </p:txBody>
      </p:sp>
      <p:sp>
        <p:nvSpPr>
          <p:cNvPr id="25" name="Shape 23"/>
          <p:cNvSpPr/>
          <p:nvPr/>
        </p:nvSpPr>
        <p:spPr>
          <a:xfrm>
            <a:off x="5678424" y="2203704"/>
            <a:ext cx="256032" cy="256032"/>
          </a:xfrm>
          <a:prstGeom prst="ellipse">
            <a:avLst/>
          </a:prstGeom>
          <a:solidFill>
            <a:srgbClr val="12302B"/>
          </a:solidFill>
          <a:ln/>
        </p:spPr>
      </p:sp>
      <p:sp>
        <p:nvSpPr>
          <p:cNvPr id="26" name="Text 24"/>
          <p:cNvSpPr txBox="1"/>
          <p:nvPr/>
        </p:nvSpPr>
        <p:spPr>
          <a:xfrm>
            <a:off x="5257800" y="1554480"/>
            <a:ext cx="1097280" cy="365760"/>
          </a:xfrm>
          <a:prstGeom prst="rect">
            <a:avLst/>
          </a:prstGeom>
          <a:noFill/>
          <a:ln/>
        </p:spPr>
        <p:txBody>
          <a:bodyPr wrap="square" lIns="0" tIns="0" rIns="0" bIns="0" rtlCol="0" anchor="ctr"/>
          <a:lstStyle/>
          <a:p>
            <a:pPr algn="ctr" indent="0" marL="0">
              <a:buNone/>
            </a:pPr>
            <a:r>
              <a:rPr lang="en-US" sz="1600" b="1" dirty="0">
                <a:solidFill>
                  <a:srgbClr val="12302B"/>
                </a:solidFill>
                <a:latin typeface="Cambria" pitchFamily="34" charset="0"/>
                <a:ea typeface="Cambria" pitchFamily="34" charset="-122"/>
                <a:cs typeface="Cambria" pitchFamily="34" charset="-120"/>
              </a:rPr>
              <a:t>V2</a:t>
            </a:r>
            <a:endParaRPr lang="en-US" sz="1600" dirty="0"/>
          </a:p>
        </p:txBody>
      </p:sp>
      <p:sp>
        <p:nvSpPr>
          <p:cNvPr id="27" name="Shape 25"/>
          <p:cNvSpPr/>
          <p:nvPr/>
        </p:nvSpPr>
        <p:spPr>
          <a:xfrm>
            <a:off x="5257800" y="2697480"/>
            <a:ext cx="1097280" cy="1463040"/>
          </a:xfrm>
          <a:prstGeom prst="roundRect">
            <a:avLst>
              <a:gd name="adj" fmla="val 6667"/>
            </a:avLst>
          </a:prstGeom>
          <a:solidFill>
            <a:srgbClr val="E6F0ED"/>
          </a:solidFill>
          <a:ln/>
        </p:spPr>
      </p:sp>
      <p:sp>
        <p:nvSpPr>
          <p:cNvPr id="28" name="Text 26"/>
          <p:cNvSpPr txBox="1"/>
          <p:nvPr/>
        </p:nvSpPr>
        <p:spPr>
          <a:xfrm>
            <a:off x="5330952" y="2788920"/>
            <a:ext cx="950976" cy="502920"/>
          </a:xfrm>
          <a:prstGeom prst="rect">
            <a:avLst/>
          </a:prstGeom>
          <a:noFill/>
          <a:ln/>
        </p:spPr>
        <p:txBody>
          <a:bodyPr wrap="square" lIns="0" tIns="0" rIns="0" bIns="0" rtlCol="0" anchor="ctr"/>
          <a:lstStyle/>
          <a:p>
            <a:pPr indent="0" marL="0">
              <a:buNone/>
            </a:pPr>
            <a:r>
              <a:rPr lang="en-US" sz="1200" b="1" dirty="0">
                <a:solidFill>
                  <a:srgbClr val="12302B"/>
                </a:solidFill>
                <a:latin typeface="Calibri" pitchFamily="34" charset="0"/>
                <a:ea typeface="Calibri" pitchFamily="34" charset="-122"/>
                <a:cs typeface="Calibri" pitchFamily="34" charset="-120"/>
              </a:rPr>
              <a:t>Multi-agent</a:t>
            </a:r>
            <a:endParaRPr lang="en-US" sz="1200" dirty="0"/>
          </a:p>
        </p:txBody>
      </p:sp>
      <p:sp>
        <p:nvSpPr>
          <p:cNvPr id="29" name="Text 27"/>
          <p:cNvSpPr txBox="1"/>
          <p:nvPr/>
        </p:nvSpPr>
        <p:spPr>
          <a:xfrm>
            <a:off x="5330952" y="3291840"/>
            <a:ext cx="950976" cy="822960"/>
          </a:xfrm>
          <a:prstGeom prst="rect">
            <a:avLst/>
          </a:prstGeom>
          <a:noFill/>
          <a:ln/>
        </p:spPr>
        <p:txBody>
          <a:bodyPr wrap="square" lIns="0" tIns="0" rIns="0" bIns="0" rtlCol="0" anchor="t"/>
          <a:lstStyle/>
          <a:p>
            <a:pPr indent="0" marL="0">
              <a:buNone/>
            </a:pPr>
            <a:r>
              <a:rPr lang="en-US" sz="1050" dirty="0">
                <a:solidFill>
                  <a:srgbClr val="1B2B28"/>
                </a:solidFill>
                <a:latin typeface="Calibri" pitchFamily="34" charset="0"/>
                <a:ea typeface="Calibri" pitchFamily="34" charset="-122"/>
                <a:cs typeface="Calibri" pitchFamily="34" charset="-120"/>
              </a:rPr>
              <a:t>Codex, Cursor, Copilot, Gemini CLI</a:t>
            </a:r>
            <a:endParaRPr lang="en-US" sz="1050" dirty="0"/>
          </a:p>
        </p:txBody>
      </p:sp>
      <p:sp>
        <p:nvSpPr>
          <p:cNvPr id="30" name="Shape 28"/>
          <p:cNvSpPr/>
          <p:nvPr/>
        </p:nvSpPr>
        <p:spPr>
          <a:xfrm>
            <a:off x="6867144" y="2203704"/>
            <a:ext cx="256032" cy="256032"/>
          </a:xfrm>
          <a:prstGeom prst="ellipse">
            <a:avLst/>
          </a:prstGeom>
          <a:solidFill>
            <a:srgbClr val="12302B"/>
          </a:solidFill>
          <a:ln/>
        </p:spPr>
      </p:sp>
      <p:sp>
        <p:nvSpPr>
          <p:cNvPr id="31" name="Text 29"/>
          <p:cNvSpPr txBox="1"/>
          <p:nvPr/>
        </p:nvSpPr>
        <p:spPr>
          <a:xfrm>
            <a:off x="6446520" y="1554480"/>
            <a:ext cx="1097280" cy="365760"/>
          </a:xfrm>
          <a:prstGeom prst="rect">
            <a:avLst/>
          </a:prstGeom>
          <a:noFill/>
          <a:ln/>
        </p:spPr>
        <p:txBody>
          <a:bodyPr wrap="square" lIns="0" tIns="0" rIns="0" bIns="0" rtlCol="0" anchor="ctr"/>
          <a:lstStyle/>
          <a:p>
            <a:pPr algn="ctr" indent="0" marL="0">
              <a:buNone/>
            </a:pPr>
            <a:r>
              <a:rPr lang="en-US" sz="1600" b="1" dirty="0">
                <a:solidFill>
                  <a:srgbClr val="12302B"/>
                </a:solidFill>
                <a:latin typeface="Cambria" pitchFamily="34" charset="0"/>
                <a:ea typeface="Cambria" pitchFamily="34" charset="-122"/>
                <a:cs typeface="Cambria" pitchFamily="34" charset="-120"/>
              </a:rPr>
              <a:t>V3</a:t>
            </a:r>
            <a:endParaRPr lang="en-US" sz="1600" dirty="0"/>
          </a:p>
        </p:txBody>
      </p:sp>
      <p:sp>
        <p:nvSpPr>
          <p:cNvPr id="32" name="Shape 30"/>
          <p:cNvSpPr/>
          <p:nvPr/>
        </p:nvSpPr>
        <p:spPr>
          <a:xfrm>
            <a:off x="6446520" y="2697480"/>
            <a:ext cx="1097280" cy="1463040"/>
          </a:xfrm>
          <a:prstGeom prst="roundRect">
            <a:avLst>
              <a:gd name="adj" fmla="val 6667"/>
            </a:avLst>
          </a:prstGeom>
          <a:solidFill>
            <a:srgbClr val="E6F0ED"/>
          </a:solidFill>
          <a:ln/>
        </p:spPr>
      </p:sp>
      <p:sp>
        <p:nvSpPr>
          <p:cNvPr id="33" name="Text 31"/>
          <p:cNvSpPr txBox="1"/>
          <p:nvPr/>
        </p:nvSpPr>
        <p:spPr>
          <a:xfrm>
            <a:off x="6519672" y="2788920"/>
            <a:ext cx="950976" cy="502920"/>
          </a:xfrm>
          <a:prstGeom prst="rect">
            <a:avLst/>
          </a:prstGeom>
          <a:noFill/>
          <a:ln/>
        </p:spPr>
        <p:txBody>
          <a:bodyPr wrap="square" lIns="0" tIns="0" rIns="0" bIns="0" rtlCol="0" anchor="ctr"/>
          <a:lstStyle/>
          <a:p>
            <a:pPr indent="0" marL="0">
              <a:buNone/>
            </a:pPr>
            <a:r>
              <a:rPr lang="en-US" sz="1200" b="1" dirty="0">
                <a:solidFill>
                  <a:srgbClr val="12302B"/>
                </a:solidFill>
                <a:latin typeface="Calibri" pitchFamily="34" charset="0"/>
                <a:ea typeface="Calibri" pitchFamily="34" charset="-122"/>
                <a:cs typeface="Calibri" pitchFamily="34" charset="-120"/>
              </a:rPr>
              <a:t>Multiple systems</a:t>
            </a:r>
            <a:endParaRPr lang="en-US" sz="1200" dirty="0"/>
          </a:p>
        </p:txBody>
      </p:sp>
      <p:sp>
        <p:nvSpPr>
          <p:cNvPr id="34" name="Text 32"/>
          <p:cNvSpPr txBox="1"/>
          <p:nvPr/>
        </p:nvSpPr>
        <p:spPr>
          <a:xfrm>
            <a:off x="6519672" y="3291840"/>
            <a:ext cx="950976" cy="822960"/>
          </a:xfrm>
          <a:prstGeom prst="rect">
            <a:avLst/>
          </a:prstGeom>
          <a:noFill/>
          <a:ln/>
        </p:spPr>
        <p:txBody>
          <a:bodyPr wrap="square" lIns="0" tIns="0" rIns="0" bIns="0" rtlCol="0" anchor="t"/>
          <a:lstStyle/>
          <a:p>
            <a:pPr indent="0" marL="0">
              <a:buNone/>
            </a:pPr>
            <a:r>
              <a:rPr lang="en-US" sz="1050" dirty="0">
                <a:solidFill>
                  <a:srgbClr val="1B2B28"/>
                </a:solidFill>
                <a:latin typeface="Calibri" pitchFamily="34" charset="0"/>
                <a:ea typeface="Calibri" pitchFamily="34" charset="-122"/>
                <a:cs typeface="Calibri" pitchFamily="34" charset="-120"/>
              </a:rPr>
              <a:t>Linear, Azure DevOps, GitHub Issues</a:t>
            </a:r>
            <a:endParaRPr lang="en-US" sz="1050" dirty="0"/>
          </a:p>
        </p:txBody>
      </p:sp>
      <p:sp>
        <p:nvSpPr>
          <p:cNvPr id="35" name="Shape 33"/>
          <p:cNvSpPr/>
          <p:nvPr/>
        </p:nvSpPr>
        <p:spPr>
          <a:xfrm>
            <a:off x="8055864" y="2203704"/>
            <a:ext cx="256032" cy="256032"/>
          </a:xfrm>
          <a:prstGeom prst="ellipse">
            <a:avLst/>
          </a:prstGeom>
          <a:solidFill>
            <a:srgbClr val="12302B"/>
          </a:solidFill>
          <a:ln/>
        </p:spPr>
      </p:sp>
      <p:sp>
        <p:nvSpPr>
          <p:cNvPr id="36" name="Text 34"/>
          <p:cNvSpPr txBox="1"/>
          <p:nvPr/>
        </p:nvSpPr>
        <p:spPr>
          <a:xfrm>
            <a:off x="7635240" y="1554480"/>
            <a:ext cx="1097280" cy="365760"/>
          </a:xfrm>
          <a:prstGeom prst="rect">
            <a:avLst/>
          </a:prstGeom>
          <a:noFill/>
          <a:ln/>
        </p:spPr>
        <p:txBody>
          <a:bodyPr wrap="square" lIns="0" tIns="0" rIns="0" bIns="0" rtlCol="0" anchor="ctr"/>
          <a:lstStyle/>
          <a:p>
            <a:pPr algn="ctr" indent="0" marL="0">
              <a:buNone/>
            </a:pPr>
            <a:r>
              <a:rPr lang="en-US" sz="1600" b="1" dirty="0">
                <a:solidFill>
                  <a:srgbClr val="12302B"/>
                </a:solidFill>
                <a:latin typeface="Cambria" pitchFamily="34" charset="0"/>
                <a:ea typeface="Cambria" pitchFamily="34" charset="-122"/>
                <a:cs typeface="Cambria" pitchFamily="34" charset="-120"/>
              </a:rPr>
              <a:t>V4</a:t>
            </a:r>
            <a:endParaRPr lang="en-US" sz="1600" dirty="0"/>
          </a:p>
        </p:txBody>
      </p:sp>
      <p:sp>
        <p:nvSpPr>
          <p:cNvPr id="37" name="Shape 35"/>
          <p:cNvSpPr/>
          <p:nvPr/>
        </p:nvSpPr>
        <p:spPr>
          <a:xfrm>
            <a:off x="7635240" y="2697480"/>
            <a:ext cx="1097280" cy="1463040"/>
          </a:xfrm>
          <a:prstGeom prst="roundRect">
            <a:avLst>
              <a:gd name="adj" fmla="val 6667"/>
            </a:avLst>
          </a:prstGeom>
          <a:solidFill>
            <a:srgbClr val="E6F0ED"/>
          </a:solidFill>
          <a:ln/>
        </p:spPr>
      </p:sp>
      <p:sp>
        <p:nvSpPr>
          <p:cNvPr id="38" name="Text 36"/>
          <p:cNvSpPr txBox="1"/>
          <p:nvPr/>
        </p:nvSpPr>
        <p:spPr>
          <a:xfrm>
            <a:off x="7708392" y="2788920"/>
            <a:ext cx="950976" cy="502920"/>
          </a:xfrm>
          <a:prstGeom prst="rect">
            <a:avLst/>
          </a:prstGeom>
          <a:noFill/>
          <a:ln/>
        </p:spPr>
        <p:txBody>
          <a:bodyPr wrap="square" lIns="0" tIns="0" rIns="0" bIns="0" rtlCol="0" anchor="ctr"/>
          <a:lstStyle/>
          <a:p>
            <a:pPr indent="0" marL="0">
              <a:buNone/>
            </a:pPr>
            <a:r>
              <a:rPr lang="en-US" sz="1200" b="1" dirty="0">
                <a:solidFill>
                  <a:srgbClr val="12302B"/>
                </a:solidFill>
                <a:latin typeface="Calibri" pitchFamily="34" charset="0"/>
                <a:ea typeface="Calibri" pitchFamily="34" charset="-122"/>
                <a:cs typeface="Calibri" pitchFamily="34" charset="-120"/>
              </a:rPr>
              <a:t>Team &amp; analytics</a:t>
            </a:r>
            <a:endParaRPr lang="en-US" sz="1200" dirty="0"/>
          </a:p>
        </p:txBody>
      </p:sp>
      <p:sp>
        <p:nvSpPr>
          <p:cNvPr id="39" name="Text 37"/>
          <p:cNvSpPr txBox="1"/>
          <p:nvPr/>
        </p:nvSpPr>
        <p:spPr>
          <a:xfrm>
            <a:off x="7708392" y="3291840"/>
            <a:ext cx="950976" cy="822960"/>
          </a:xfrm>
          <a:prstGeom prst="rect">
            <a:avLst/>
          </a:prstGeom>
          <a:noFill/>
          <a:ln/>
        </p:spPr>
        <p:txBody>
          <a:bodyPr wrap="square" lIns="0" tIns="0" rIns="0" bIns="0" rtlCol="0" anchor="t"/>
          <a:lstStyle/>
          <a:p>
            <a:pPr indent="0" marL="0">
              <a:buNone/>
            </a:pPr>
            <a:r>
              <a:rPr lang="en-US" sz="1050" dirty="0">
                <a:solidFill>
                  <a:srgbClr val="1B2B28"/>
                </a:solidFill>
                <a:latin typeface="Calibri" pitchFamily="34" charset="0"/>
                <a:ea typeface="Calibri" pitchFamily="34" charset="-122"/>
                <a:cs typeface="Calibri" pitchFamily="34" charset="-120"/>
              </a:rPr>
              <a:t>Untracked-work trends, sprint reconciliation</a:t>
            </a:r>
            <a:endParaRPr lang="en-US" sz="1050" dirty="0"/>
          </a:p>
        </p:txBody>
      </p:sp>
      <p:sp>
        <p:nvSpPr>
          <p:cNvPr id="40" name="Text 38"/>
          <p:cNvSpPr txBox="1"/>
          <p:nvPr/>
        </p:nvSpPr>
        <p:spPr>
          <a:xfrm>
            <a:off x="502920" y="4343400"/>
            <a:ext cx="2286000" cy="274320"/>
          </a:xfrm>
          <a:prstGeom prst="rect">
            <a:avLst/>
          </a:prstGeom>
          <a:noFill/>
          <a:ln/>
        </p:spPr>
        <p:txBody>
          <a:bodyPr wrap="square" lIns="0" tIns="0" rIns="0" bIns="0" rtlCol="0" anchor="ctr"/>
          <a:lstStyle/>
          <a:p>
            <a:pPr indent="0" marL="0">
              <a:buNone/>
            </a:pPr>
            <a:r>
              <a:rPr lang="en-US" sz="1100" b="1" dirty="0">
                <a:solidFill>
                  <a:srgbClr val="E89B2E"/>
                </a:solidFill>
                <a:latin typeface="Calibri" pitchFamily="34" charset="0"/>
                <a:ea typeface="Calibri" pitchFamily="34" charset="-122"/>
                <a:cs typeface="Calibri" pitchFamily="34" charset="-120"/>
              </a:rPr>
              <a:t>Current focus</a:t>
            </a:r>
            <a:endParaRPr lang="en-US" sz="1100" dirty="0"/>
          </a:p>
        </p:txBody>
      </p:sp>
      <p:sp>
        <p:nvSpPr>
          <p:cNvPr id="41" name="Text 39"/>
          <p:cNvSpPr txBox="1"/>
          <p:nvPr/>
        </p:nvSpPr>
        <p:spPr>
          <a:xfrm>
            <a:off x="2743200" y="4343400"/>
            <a:ext cx="5943600" cy="274320"/>
          </a:xfrm>
          <a:prstGeom prst="rect">
            <a:avLst/>
          </a:prstGeom>
          <a:noFill/>
          <a:ln/>
        </p:spPr>
        <p:txBody>
          <a:bodyPr wrap="square" lIns="0" tIns="0" rIns="0" bIns="0" rtlCol="0" anchor="ctr"/>
          <a:lstStyle/>
          <a:p>
            <a:pPr algn="r" indent="0" marL="0">
              <a:buNone/>
            </a:pPr>
            <a:r>
              <a:rPr lang="en-US" sz="1100" i="1" dirty="0">
                <a:solidFill>
                  <a:srgbClr val="5E706C"/>
                </a:solidFill>
                <a:latin typeface="Calibri" pitchFamily="34" charset="0"/>
                <a:ea typeface="Calibri" pitchFamily="34" charset="-122"/>
                <a:cs typeface="Calibri" pitchFamily="34" charset="-120"/>
              </a:rPr>
              <a:t>Internal model stays agent- and tracker-agnostic: Agent Session → Work Evidence → System of Record</a:t>
            </a:r>
            <a:endParaRPr lang="en-US" sz="1100" dirty="0"/>
          </a:p>
        </p:txBody>
      </p:sp>
      <p:sp>
        <p:nvSpPr>
          <p:cNvPr id="42" name="Text 40"/>
          <p:cNvSpPr txBox="1"/>
          <p:nvPr/>
        </p:nvSpPr>
        <p:spPr>
          <a:xfrm>
            <a:off x="8412480" y="4754880"/>
            <a:ext cx="457200" cy="274320"/>
          </a:xfrm>
          <a:prstGeom prst="rect">
            <a:avLst/>
          </a:prstGeom>
          <a:noFill/>
          <a:ln/>
        </p:spPr>
        <p:txBody>
          <a:bodyPr wrap="square" lIns="0" tIns="0" rIns="0" bIns="0" rtlCol="0" anchor="ctr"/>
          <a:lstStyle/>
          <a:p>
            <a:pPr algn="r" indent="0" marL="0">
              <a:buNone/>
            </a:pPr>
            <a:r>
              <a:rPr lang="en-US" sz="1000" dirty="0">
                <a:solidFill>
                  <a:srgbClr val="5E706C"/>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02B"/>
        </a:solidFill>
      </p:bgPr>
    </p:bg>
    <p:spTree>
      <p:nvGrpSpPr>
        <p:cNvPr id="1" name=""/>
        <p:cNvGrpSpPr/>
        <p:nvPr/>
      </p:nvGrpSpPr>
      <p:grpSpPr>
        <a:xfrm>
          <a:off x="0" y="0"/>
          <a:ext cx="0" cy="0"/>
          <a:chOff x="0" y="0"/>
          <a:chExt cx="0" cy="0"/>
        </a:xfrm>
      </p:grpSpPr>
      <p:sp>
        <p:nvSpPr>
          <p:cNvPr id="2" name="Text 0"/>
          <p:cNvSpPr txBox="1"/>
          <p:nvPr/>
        </p:nvSpPr>
        <p:spPr>
          <a:xfrm>
            <a:off x="457200" y="411480"/>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we're asking for</a:t>
            </a:r>
            <a:endParaRPr lang="en-US" sz="3200" dirty="0"/>
          </a:p>
        </p:txBody>
      </p:sp>
      <p:sp>
        <p:nvSpPr>
          <p:cNvPr id="3" name="Text 1"/>
          <p:cNvSpPr txBox="1"/>
          <p:nvPr/>
        </p:nvSpPr>
        <p:spPr>
          <a:xfrm>
            <a:off x="457200" y="960120"/>
            <a:ext cx="8229600" cy="365760"/>
          </a:xfrm>
          <a:prstGeom prst="rect">
            <a:avLst/>
          </a:prstGeom>
          <a:noFill/>
          <a:ln/>
        </p:spPr>
        <p:txBody>
          <a:bodyPr wrap="square" lIns="0" tIns="0" rIns="0" bIns="0" rtlCol="0" anchor="ctr"/>
          <a:lstStyle/>
          <a:p>
            <a:pPr indent="0" marL="0">
              <a:buNone/>
            </a:pPr>
            <a:r>
              <a:rPr lang="en-US" sz="1500" dirty="0">
                <a:solidFill>
                  <a:srgbClr val="B9D6CE"/>
                </a:solidFill>
                <a:latin typeface="Calibri" pitchFamily="34" charset="0"/>
                <a:ea typeface="Calibri" pitchFamily="34" charset="-122"/>
                <a:cs typeface="Calibri" pitchFamily="34" charset="-120"/>
              </a:rPr>
              <a:t>A small, low-risk step to test the idea on real work</a:t>
            </a:r>
            <a:endParaRPr lang="en-US" sz="1500" dirty="0"/>
          </a:p>
        </p:txBody>
      </p:sp>
      <p:sp>
        <p:nvSpPr>
          <p:cNvPr id="4" name="Shape 2"/>
          <p:cNvSpPr/>
          <p:nvPr/>
        </p:nvSpPr>
        <p:spPr>
          <a:xfrm>
            <a:off x="457200" y="1600200"/>
            <a:ext cx="4023360" cy="1143000"/>
          </a:xfrm>
          <a:prstGeom prst="roundRect">
            <a:avLst>
              <a:gd name="adj" fmla="val 8000"/>
            </a:avLst>
          </a:prstGeom>
          <a:solidFill>
            <a:srgbClr val="1F4A42"/>
          </a:solidFill>
          <a:ln/>
        </p:spPr>
      </p:sp>
      <p:sp>
        <p:nvSpPr>
          <p:cNvPr id="5" name="Shape 3"/>
          <p:cNvSpPr/>
          <p:nvPr/>
        </p:nvSpPr>
        <p:spPr>
          <a:xfrm>
            <a:off x="685800" y="1828800"/>
            <a:ext cx="384048" cy="384048"/>
          </a:xfrm>
          <a:prstGeom prst="ellipse">
            <a:avLst/>
          </a:prstGeom>
          <a:solidFill>
            <a:srgbClr val="E89B2E"/>
          </a:solidFill>
          <a:ln/>
        </p:spPr>
      </p:sp>
      <p:sp>
        <p:nvSpPr>
          <p:cNvPr id="6" name="Text 4"/>
          <p:cNvSpPr txBox="1"/>
          <p:nvPr/>
        </p:nvSpPr>
        <p:spPr>
          <a:xfrm>
            <a:off x="685800" y="1828800"/>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34440" y="1783080"/>
            <a:ext cx="31089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Green light for Phase 0 + V0</a:t>
            </a:r>
            <a:endParaRPr lang="en-US" sz="1500" dirty="0"/>
          </a:p>
        </p:txBody>
      </p:sp>
      <p:sp>
        <p:nvSpPr>
          <p:cNvPr id="8" name="Text 6"/>
          <p:cNvSpPr txBox="1"/>
          <p:nvPr/>
        </p:nvSpPr>
        <p:spPr>
          <a:xfrm>
            <a:off x="1234440" y="2148840"/>
            <a:ext cx="3108960" cy="502920"/>
          </a:xfrm>
          <a:prstGeom prst="rect">
            <a:avLst/>
          </a:prstGeom>
          <a:noFill/>
          <a:ln/>
        </p:spPr>
        <p:txBody>
          <a:bodyPr wrap="square" lIns="0" tIns="0" rIns="0" bIns="0" rtlCol="0" anchor="ctr"/>
          <a:lstStyle/>
          <a:p>
            <a:pPr indent="0" marL="0">
              <a:buNone/>
            </a:pPr>
            <a:r>
              <a:rPr lang="en-US" sz="1200" dirty="0">
                <a:solidFill>
                  <a:srgbClr val="E6F0ED"/>
                </a:solidFill>
                <a:latin typeface="Calibri" pitchFamily="34" charset="0"/>
                <a:ea typeface="Calibri" pitchFamily="34" charset="-122"/>
                <a:cs typeface="Calibri" pitchFamily="34" charset="-120"/>
              </a:rPr>
              <a:t>Time to build the read-only CLI and measure matching quality.</a:t>
            </a:r>
            <a:endParaRPr lang="en-US" sz="1200" dirty="0"/>
          </a:p>
        </p:txBody>
      </p:sp>
      <p:sp>
        <p:nvSpPr>
          <p:cNvPr id="9" name="Shape 7"/>
          <p:cNvSpPr/>
          <p:nvPr/>
        </p:nvSpPr>
        <p:spPr>
          <a:xfrm>
            <a:off x="4663440" y="1600200"/>
            <a:ext cx="4023360" cy="1143000"/>
          </a:xfrm>
          <a:prstGeom prst="roundRect">
            <a:avLst>
              <a:gd name="adj" fmla="val 8000"/>
            </a:avLst>
          </a:prstGeom>
          <a:solidFill>
            <a:srgbClr val="1F4A42"/>
          </a:solidFill>
          <a:ln/>
        </p:spPr>
      </p:sp>
      <p:sp>
        <p:nvSpPr>
          <p:cNvPr id="10" name="Shape 8"/>
          <p:cNvSpPr/>
          <p:nvPr/>
        </p:nvSpPr>
        <p:spPr>
          <a:xfrm>
            <a:off x="4892040" y="1828800"/>
            <a:ext cx="384048" cy="384048"/>
          </a:xfrm>
          <a:prstGeom prst="ellipse">
            <a:avLst/>
          </a:prstGeom>
          <a:solidFill>
            <a:srgbClr val="E89B2E"/>
          </a:solidFill>
          <a:ln/>
        </p:spPr>
      </p:sp>
      <p:sp>
        <p:nvSpPr>
          <p:cNvPr id="11" name="Text 9"/>
          <p:cNvSpPr txBox="1"/>
          <p:nvPr/>
        </p:nvSpPr>
        <p:spPr>
          <a:xfrm>
            <a:off x="4892040" y="1828800"/>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440680" y="1783080"/>
            <a:ext cx="31089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small pilot group</a:t>
            </a:r>
            <a:endParaRPr lang="en-US" sz="1500" dirty="0"/>
          </a:p>
        </p:txBody>
      </p:sp>
      <p:sp>
        <p:nvSpPr>
          <p:cNvPr id="13" name="Text 11"/>
          <p:cNvSpPr txBox="1"/>
          <p:nvPr/>
        </p:nvSpPr>
        <p:spPr>
          <a:xfrm>
            <a:off x="5440680" y="2148840"/>
            <a:ext cx="3108960" cy="502920"/>
          </a:xfrm>
          <a:prstGeom prst="rect">
            <a:avLst/>
          </a:prstGeom>
          <a:noFill/>
          <a:ln/>
        </p:spPr>
        <p:txBody>
          <a:bodyPr wrap="square" lIns="0" tIns="0" rIns="0" bIns="0" rtlCol="0" anchor="ctr"/>
          <a:lstStyle/>
          <a:p>
            <a:pPr indent="0" marL="0">
              <a:buNone/>
            </a:pPr>
            <a:r>
              <a:rPr lang="en-US" sz="1200" dirty="0">
                <a:solidFill>
                  <a:srgbClr val="E6F0ED"/>
                </a:solidFill>
                <a:latin typeface="Calibri" pitchFamily="34" charset="0"/>
                <a:ea typeface="Calibri" pitchFamily="34" charset="-122"/>
                <a:cs typeface="Calibri" pitchFamily="34" charset="-120"/>
              </a:rPr>
              <a:t>A few developers already using Claude Code daily to try it on real days.</a:t>
            </a:r>
            <a:endParaRPr lang="en-US" sz="1200" dirty="0"/>
          </a:p>
        </p:txBody>
      </p:sp>
      <p:sp>
        <p:nvSpPr>
          <p:cNvPr id="14" name="Shape 12"/>
          <p:cNvSpPr/>
          <p:nvPr/>
        </p:nvSpPr>
        <p:spPr>
          <a:xfrm>
            <a:off x="457200" y="2926080"/>
            <a:ext cx="4023360" cy="1143000"/>
          </a:xfrm>
          <a:prstGeom prst="roundRect">
            <a:avLst>
              <a:gd name="adj" fmla="val 8000"/>
            </a:avLst>
          </a:prstGeom>
          <a:solidFill>
            <a:srgbClr val="1F4A42"/>
          </a:solidFill>
          <a:ln/>
        </p:spPr>
      </p:sp>
      <p:sp>
        <p:nvSpPr>
          <p:cNvPr id="15" name="Shape 13"/>
          <p:cNvSpPr/>
          <p:nvPr/>
        </p:nvSpPr>
        <p:spPr>
          <a:xfrm>
            <a:off x="685800" y="3154680"/>
            <a:ext cx="384048" cy="384048"/>
          </a:xfrm>
          <a:prstGeom prst="ellipse">
            <a:avLst/>
          </a:prstGeom>
          <a:solidFill>
            <a:srgbClr val="E89B2E"/>
          </a:solidFill>
          <a:ln/>
        </p:spPr>
      </p:sp>
      <p:sp>
        <p:nvSpPr>
          <p:cNvPr id="16" name="Text 14"/>
          <p:cNvSpPr txBox="1"/>
          <p:nvPr/>
        </p:nvSpPr>
        <p:spPr>
          <a:xfrm>
            <a:off x="685800" y="3154680"/>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34440" y="3108960"/>
            <a:ext cx="31089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Read access to Jira</a:t>
            </a:r>
            <a:endParaRPr lang="en-US" sz="1500" dirty="0"/>
          </a:p>
        </p:txBody>
      </p:sp>
      <p:sp>
        <p:nvSpPr>
          <p:cNvPr id="18" name="Text 16"/>
          <p:cNvSpPr txBox="1"/>
          <p:nvPr/>
        </p:nvSpPr>
        <p:spPr>
          <a:xfrm>
            <a:off x="1234440" y="3474720"/>
            <a:ext cx="3108960" cy="502920"/>
          </a:xfrm>
          <a:prstGeom prst="rect">
            <a:avLst/>
          </a:prstGeom>
          <a:noFill/>
          <a:ln/>
        </p:spPr>
        <p:txBody>
          <a:bodyPr wrap="square" lIns="0" tIns="0" rIns="0" bIns="0" rtlCol="0" anchor="ctr"/>
          <a:lstStyle/>
          <a:p>
            <a:pPr indent="0" marL="0">
              <a:buNone/>
            </a:pPr>
            <a:r>
              <a:rPr lang="en-US" sz="1200" dirty="0">
                <a:solidFill>
                  <a:srgbClr val="E6F0ED"/>
                </a:solidFill>
                <a:latin typeface="Calibri" pitchFamily="34" charset="0"/>
                <a:ea typeface="Calibri" pitchFamily="34" charset="-122"/>
                <a:cs typeface="Calibri" pitchFamily="34" charset="-120"/>
              </a:rPr>
              <a:t>Via Rovo MCP or REST API — read-only until quality is proven.</a:t>
            </a:r>
            <a:endParaRPr lang="en-US" sz="1200" dirty="0"/>
          </a:p>
        </p:txBody>
      </p:sp>
      <p:sp>
        <p:nvSpPr>
          <p:cNvPr id="19" name="Shape 17"/>
          <p:cNvSpPr/>
          <p:nvPr/>
        </p:nvSpPr>
        <p:spPr>
          <a:xfrm>
            <a:off x="4663440" y="2926080"/>
            <a:ext cx="4023360" cy="1143000"/>
          </a:xfrm>
          <a:prstGeom prst="roundRect">
            <a:avLst>
              <a:gd name="adj" fmla="val 8000"/>
            </a:avLst>
          </a:prstGeom>
          <a:solidFill>
            <a:srgbClr val="1F4A42"/>
          </a:solidFill>
          <a:ln/>
        </p:spPr>
      </p:sp>
      <p:sp>
        <p:nvSpPr>
          <p:cNvPr id="20" name="Shape 18"/>
          <p:cNvSpPr/>
          <p:nvPr/>
        </p:nvSpPr>
        <p:spPr>
          <a:xfrm>
            <a:off x="4892040" y="3154680"/>
            <a:ext cx="384048" cy="384048"/>
          </a:xfrm>
          <a:prstGeom prst="ellipse">
            <a:avLst/>
          </a:prstGeom>
          <a:solidFill>
            <a:srgbClr val="E89B2E"/>
          </a:solidFill>
          <a:ln/>
        </p:spPr>
      </p:sp>
      <p:sp>
        <p:nvSpPr>
          <p:cNvPr id="21" name="Text 19"/>
          <p:cNvSpPr txBox="1"/>
          <p:nvPr/>
        </p:nvSpPr>
        <p:spPr>
          <a:xfrm>
            <a:off x="4892040" y="3154680"/>
            <a:ext cx="384048" cy="384048"/>
          </a:xfrm>
          <a:prstGeom prst="rect">
            <a:avLst/>
          </a:prstGeom>
          <a:noFill/>
          <a:ln/>
        </p:spPr>
        <p:txBody>
          <a:bodyPr wrap="square" lIns="0" tIns="0" rIns="0" bIns="0" rtlCol="0" anchor="ctr"/>
          <a:lstStyle/>
          <a:p>
            <a:pPr algn="ctr" indent="0" marL="0">
              <a:buNone/>
            </a:pPr>
            <a:r>
              <a:rPr lang="en-US" sz="1300" b="1" dirty="0">
                <a:solidFill>
                  <a:srgbClr val="12302B"/>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5440680" y="3108960"/>
            <a:ext cx="3108960" cy="36576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review checkpoint</a:t>
            </a:r>
            <a:endParaRPr lang="en-US" sz="1500" dirty="0"/>
          </a:p>
        </p:txBody>
      </p:sp>
      <p:sp>
        <p:nvSpPr>
          <p:cNvPr id="23" name="Text 21"/>
          <p:cNvSpPr txBox="1"/>
          <p:nvPr/>
        </p:nvSpPr>
        <p:spPr>
          <a:xfrm>
            <a:off x="5440680" y="3474720"/>
            <a:ext cx="3108960" cy="502920"/>
          </a:xfrm>
          <a:prstGeom prst="rect">
            <a:avLst/>
          </a:prstGeom>
          <a:noFill/>
          <a:ln/>
        </p:spPr>
        <p:txBody>
          <a:bodyPr wrap="square" lIns="0" tIns="0" rIns="0" bIns="0" rtlCol="0" anchor="ctr"/>
          <a:lstStyle/>
          <a:p>
            <a:pPr indent="0" marL="0">
              <a:buNone/>
            </a:pPr>
            <a:r>
              <a:rPr lang="en-US" sz="1200" dirty="0">
                <a:solidFill>
                  <a:srgbClr val="E6F0ED"/>
                </a:solidFill>
                <a:latin typeface="Calibri" pitchFamily="34" charset="0"/>
                <a:ea typeface="Calibri" pitchFamily="34" charset="-122"/>
                <a:cs typeface="Calibri" pitchFamily="34" charset="-120"/>
              </a:rPr>
              <a:t>Decide on write-back (V0.5) against the success criteria.</a:t>
            </a:r>
            <a:endParaRPr lang="en-US" sz="1200" dirty="0"/>
          </a:p>
        </p:txBody>
      </p:sp>
      <p:sp>
        <p:nvSpPr>
          <p:cNvPr id="24" name="Text 22"/>
          <p:cNvSpPr txBox="1"/>
          <p:nvPr/>
        </p:nvSpPr>
        <p:spPr>
          <a:xfrm>
            <a:off x="457200" y="4480560"/>
            <a:ext cx="8229600" cy="274320"/>
          </a:xfrm>
          <a:prstGeom prst="rect">
            <a:avLst/>
          </a:prstGeom>
          <a:noFill/>
          <a:ln/>
        </p:spPr>
        <p:txBody>
          <a:bodyPr wrap="square" lIns="0" tIns="0" rIns="0" bIns="0" rtlCol="0" anchor="ctr"/>
          <a:lstStyle/>
          <a:p>
            <a:pPr indent="0" marL="0">
              <a:buNone/>
            </a:pPr>
            <a:r>
              <a:rPr lang="en-US" sz="1200" dirty="0">
                <a:solidFill>
                  <a:srgbClr val="E89B2E"/>
                </a:solidFill>
                <a:latin typeface="Calibri" pitchFamily="34" charset="0"/>
                <a:ea typeface="Calibri" pitchFamily="34" charset="-122"/>
                <a:cs typeface="Calibri" pitchFamily="34" charset="-120"/>
              </a:rPr>
              <a:t>github.com/gurditsingh/worktrace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WorkTrace — AI Work Reconciliation</dc:title>
  <dc:subject>PptxGenJS Presentation</dc:subject>
  <dc:creator>PptxGenJS</dc:creator>
  <cp:lastModifiedBy>PptxGenJS</cp:lastModifiedBy>
  <cp:revision>1</cp:revision>
  <dcterms:created xsi:type="dcterms:W3CDTF">2026-09-29T02:45:51Z</dcterms:created>
  <dcterms:modified xsi:type="dcterms:W3CDTF">2026-09-29T02:45:51Z</dcterms:modified>
</cp:coreProperties>
</file>